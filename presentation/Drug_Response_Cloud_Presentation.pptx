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0983884-4f04-fcef-c18a-84b1c9a70fc4}">
          <p14:sldIdLst>
            <p14:sldId id="256"/>
            <p14:sldId id="257"/>
            <p14:sldId id="258"/>
            <p14:sldId id="259"/>
          </p14:sldIdLst>
        </p14:section>
        <p14:section name="Design" id="{7d0671b5-e52e-8aa2-e068-6e6de6f1e962}">
          <p14:sldIdLst>
            <p14:sldId id="260"/>
            <p14:sldId id="261"/>
          </p14:sldIdLst>
        </p14:section>
        <p14:section name="Cloud" id="{9596bc69-461f-ca63-b2f7-973b41640db2}">
          <p14:sldIdLst>
            <p14:sldId id="262"/>
            <p14:sldId id="263"/>
          </p14:sldIdLst>
        </p14:section>
        <p14:section name="Results" id="{0d3da4fc-41b8-b7be-fe6a-3cae45f560e8}">
          <p14:sldIdLst>
            <p14:sldId id="264"/>
            <p14:sldId id="265"/>
            <p14:sldId id="266"/>
            <p14:sldId id="267"/>
            <p14:sldId id="268"/>
          </p14:sldIdLst>
        </p14:section>
        <p14:section name="Close" id="{11846b12-1952-cef3-4235-31eb9d262da8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we took a deep-learning drug response model and turned it into a secure, explainable cloud service on AWS, built entirely within the free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models exist, but very few are deployed with security, monitoring and explanations. That gap is what this project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analysed five papers. Abhijeet: model papers; Sarthak: reviews, benchmark and cloud; Shriyans: explainability and clinical translation. All citations are verified in the report's reference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criteria are revisited on the results slides: O1, O3, O5 and O6 met; O4 met with one finding; O2 partly met because a per-drug linear baseline does better on the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inputs, the offline ML pipeline, the online platform on AWS, and operations/feedback. The full-size figure is Figure 2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omics layer becomes one token, and the drug's molecular graph becomes another. The Transformer's attention gives a per-modality explanation for free; gradient times input gives gene-level attribution.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 ap-southeast-2 (Sydney), because the AWS project only allows one home region. Flow: users → API Gateway (HTTPS) → EC2 container → RDS in private subnets; S3 for data; Lambda for bulk files; SSM for secrets and deployment; CloudWatch, SNS and CloudTrail for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control was tested on the live site; see the testing slide. One finding: port 80 on the EC2 instance is reachable directly, bypassing HTTPS (test T12).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data are synthetic, the results prove the pipeline works, not that the biology is right. Real-data validation is the clear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split, same features, same thresholds for every model. We report the per-drug ridge result openly; it is the main limitation of the current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Tests ran on 16/10/2026 from a laptop in India against the Sydney deployment. About 0.85 s of each request is network round trip, so a Mumbai deployment would be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point: sign in, upload datasets/sample_patient.csv, predict, then click Explain on any drug. Then show the Model, History and Users tabs, and sign in as a researcher to show role-based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estimates, not actual spend: the free plan had not yet recorded any credit use on 16/10/2026, with $140 of credits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limitation on the left is matched by the next step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github.com/Vegeta290/AIDrugResponsePrediction_AWS_Cloud_Project_2026.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a working, secure, monitored platform; honest model results; clear next steps with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BITE412L Cloud Computing · Drug Response Prediction on AWS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Cloud Platform for Personalized Drug Response Prediction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Multi-omics data · Graph neural network + Transformer · Deployed on AWS</a:t>
            </a:r>
            <a:endParaRPr lang="en-US" sz="2000" dirty="0"/>
          </a:p>
        </p:txBody>
      </p:sp>
      <p:sp>
        <p:nvSpPr>
          <p:cNvPr id="4" name="team-name-0"/>
          <p:cNvSpPr txBox="1"/>
          <p:nvPr/>
        </p:nvSpPr>
        <p:spPr>
          <a:xfrm>
            <a:off x="73152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Abhijeet Sinha</a:t>
            </a:r>
            <a:endParaRPr lang="en-US" sz="1800" dirty="0"/>
          </a:p>
        </p:txBody>
      </p:sp>
      <p:sp>
        <p:nvSpPr>
          <p:cNvPr id="5" name="team-reg-0"/>
          <p:cNvSpPr txBox="1"/>
          <p:nvPr/>
        </p:nvSpPr>
        <p:spPr>
          <a:xfrm>
            <a:off x="73152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23BIT0157</a:t>
            </a:r>
            <a:endParaRPr lang="en-US" sz="1400" dirty="0"/>
          </a:p>
        </p:txBody>
      </p:sp>
      <p:sp>
        <p:nvSpPr>
          <p:cNvPr id="6" name="team-name-1"/>
          <p:cNvSpPr txBox="1"/>
          <p:nvPr/>
        </p:nvSpPr>
        <p:spPr>
          <a:xfrm>
            <a:off x="356616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Sarthak Pathak</a:t>
            </a:r>
            <a:endParaRPr lang="en-US" sz="1800" dirty="0"/>
          </a:p>
        </p:txBody>
      </p:sp>
      <p:sp>
        <p:nvSpPr>
          <p:cNvPr id="7" name="team-reg-1"/>
          <p:cNvSpPr txBox="1"/>
          <p:nvPr/>
        </p:nvSpPr>
        <p:spPr>
          <a:xfrm>
            <a:off x="356616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23BIT0187</a:t>
            </a:r>
            <a:endParaRPr lang="en-US" sz="1400" dirty="0"/>
          </a:p>
        </p:txBody>
      </p:sp>
      <p:sp>
        <p:nvSpPr>
          <p:cNvPr id="8" name="team-name-2"/>
          <p:cNvSpPr txBox="1"/>
          <p:nvPr/>
        </p:nvSpPr>
        <p:spPr>
          <a:xfrm>
            <a:off x="6400800" y="4434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Shriyans Pratihari</a:t>
            </a:r>
            <a:endParaRPr lang="en-US" sz="1800" dirty="0"/>
          </a:p>
        </p:txBody>
      </p:sp>
      <p:sp>
        <p:nvSpPr>
          <p:cNvPr id="9" name="team-reg-2"/>
          <p:cNvSpPr txBox="1"/>
          <p:nvPr/>
        </p:nvSpPr>
        <p:spPr>
          <a:xfrm>
            <a:off x="640080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23BIT0219</a:t>
            </a:r>
            <a:endParaRPr lang="en-US" sz="1400" dirty="0"/>
          </a:p>
        </p:txBody>
      </p:sp>
      <p:sp>
        <p:nvSpPr>
          <p:cNvPr id="10" name="course-line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BITE412L Cloud Computing · Guide: Dr. Priya V · SCOPE, VIT Vellore · 16/10/2026</a:t>
            </a:r>
            <a:endParaRPr lang="en-US" sz="1400" dirty="0"/>
          </a:p>
        </p:txBody>
      </p:sp>
      <p:sp>
        <p:nvSpPr>
          <p:cNvPr id="11" name="badge-title-dna"/>
          <p:cNvSpPr/>
          <p:nvPr/>
        </p:nvSpPr>
        <p:spPr>
          <a:xfrm>
            <a:off x="10424160" y="640080"/>
            <a:ext cx="1005840" cy="10058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2" name="icon-title-d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562" y="881482"/>
            <a:ext cx="523037" cy="523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drug-response models rarely become usable services</a:t>
            </a:r>
            <a:endParaRPr lang="en-US" sz="3200" dirty="0"/>
          </a:p>
        </p:txBody>
      </p:sp>
      <p:sp>
        <p:nvSpPr>
          <p:cNvPr id="3" name="badge-prob-0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4" name="icon-prob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45" y="1592885"/>
            <a:ext cx="380390" cy="380390"/>
          </a:xfrm>
          <a:prstGeom prst="rect">
            <a:avLst/>
          </a:prstGeom>
        </p:spPr>
      </p:pic>
      <p:sp>
        <p:nvSpPr>
          <p:cNvPr id="5" name="prob-h-0"/>
          <p:cNvSpPr txBox="1"/>
          <p:nvPr/>
        </p:nvSpPr>
        <p:spPr>
          <a:xfrm>
            <a:off x="1600200" y="13990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Research code, not services</a:t>
            </a:r>
            <a:endParaRPr lang="en-US" sz="1900" dirty="0"/>
          </a:p>
        </p:txBody>
      </p:sp>
      <p:sp>
        <p:nvSpPr>
          <p:cNvPr id="6" name="prob-b-0"/>
          <p:cNvSpPr txBox="1"/>
          <p:nvPr/>
        </p:nvSpPr>
        <p:spPr>
          <a:xfrm>
            <a:off x="1600200" y="1783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login, storage, audit trail or monitoring, so a team cannot use them safely</a:t>
            </a:r>
            <a:endParaRPr lang="en-US" sz="1500" dirty="0"/>
          </a:p>
        </p:txBody>
      </p:sp>
      <p:sp>
        <p:nvSpPr>
          <p:cNvPr id="7" name="badge-prob-1"/>
          <p:cNvSpPr/>
          <p:nvPr/>
        </p:nvSpPr>
        <p:spPr>
          <a:xfrm>
            <a:off x="640080" y="2606040"/>
            <a:ext cx="731520" cy="73152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8" name="icon-prob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5" y="2781605"/>
            <a:ext cx="380390" cy="380390"/>
          </a:xfrm>
          <a:prstGeom prst="rect">
            <a:avLst/>
          </a:prstGeom>
        </p:spPr>
      </p:pic>
      <p:sp>
        <p:nvSpPr>
          <p:cNvPr id="9" name="prob-h-1"/>
          <p:cNvSpPr txBox="1"/>
          <p:nvPr/>
        </p:nvSpPr>
        <p:spPr>
          <a:xfrm>
            <a:off x="1600200" y="2587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Partial use of the data</a:t>
            </a:r>
            <a:endParaRPr lang="en-US" sz="1900" dirty="0"/>
          </a:p>
        </p:txBody>
      </p:sp>
      <p:sp>
        <p:nvSpPr>
          <p:cNvPr id="10" name="prob-b-1"/>
          <p:cNvSpPr txBox="1"/>
          <p:nvPr/>
        </p:nvSpPr>
        <p:spPr>
          <a:xfrm>
            <a:off x="160020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or two omics layers; drugs as strings; missing data not handled</a:t>
            </a:r>
            <a:endParaRPr lang="en-US" sz="1500" dirty="0"/>
          </a:p>
        </p:txBody>
      </p:sp>
      <p:sp>
        <p:nvSpPr>
          <p:cNvPr id="11" name="badge-prob-2"/>
          <p:cNvSpPr/>
          <p:nvPr/>
        </p:nvSpPr>
        <p:spPr>
          <a:xfrm>
            <a:off x="640080" y="3794760"/>
            <a:ext cx="731520" cy="73152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2" name="icon-prob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5" y="3970325"/>
            <a:ext cx="380390" cy="380390"/>
          </a:xfrm>
          <a:prstGeom prst="rect">
            <a:avLst/>
          </a:prstGeom>
        </p:spPr>
      </p:pic>
      <p:sp>
        <p:nvSpPr>
          <p:cNvPr id="13" name="prob-h-2"/>
          <p:cNvSpPr txBox="1"/>
          <p:nvPr/>
        </p:nvSpPr>
        <p:spPr>
          <a:xfrm>
            <a:off x="1600200" y="37764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Limited explanations</a:t>
            </a:r>
            <a:endParaRPr lang="en-US" sz="1900" dirty="0"/>
          </a:p>
        </p:txBody>
      </p:sp>
      <p:sp>
        <p:nvSpPr>
          <p:cNvPr id="14" name="prob-b-2"/>
          <p:cNvSpPr txBox="1"/>
          <p:nvPr/>
        </p:nvSpPr>
        <p:spPr>
          <a:xfrm>
            <a:off x="1600200" y="41605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Deep models are hard to trust in a clinical setting</a:t>
            </a:r>
            <a:endParaRPr lang="en-US" sz="1500" dirty="0"/>
          </a:p>
        </p:txBody>
      </p:sp>
      <p:sp>
        <p:nvSpPr>
          <p:cNvPr id="15" name="badge-prob-3"/>
          <p:cNvSpPr/>
          <p:nvPr/>
        </p:nvSpPr>
        <p:spPr>
          <a:xfrm>
            <a:off x="640080" y="4983480"/>
            <a:ext cx="731520" cy="73152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6" name="icon-prob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5" y="5159045"/>
            <a:ext cx="380390" cy="380390"/>
          </a:xfrm>
          <a:prstGeom prst="rect">
            <a:avLst/>
          </a:prstGeom>
        </p:spPr>
      </p:pic>
      <p:sp>
        <p:nvSpPr>
          <p:cNvPr id="17" name="prob-h-3"/>
          <p:cNvSpPr txBox="1"/>
          <p:nvPr/>
        </p:nvSpPr>
        <p:spPr>
          <a:xfrm>
            <a:off x="160020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Optimistic evaluation</a:t>
            </a:r>
            <a:endParaRPr lang="en-US" sz="1900" dirty="0"/>
          </a:p>
        </p:txBody>
      </p:sp>
      <p:sp>
        <p:nvSpPr>
          <p:cNvPr id="18" name="prob-b-3"/>
          <p:cNvSpPr txBox="1"/>
          <p:nvPr/>
        </p:nvSpPr>
        <p:spPr>
          <a:xfrm>
            <a:off x="1600200" y="53492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Random splits leak cell lines; accuracy drops on unseen data</a:t>
            </a:r>
            <a:endParaRPr lang="en-US" sz="1500" dirty="0"/>
          </a:p>
        </p:txBody>
      </p:sp>
      <p:sp>
        <p:nvSpPr>
          <p:cNvPr id="19" name="stat1-bg"/>
          <p:cNvSpPr/>
          <p:nvPr/>
        </p:nvSpPr>
        <p:spPr>
          <a:xfrm>
            <a:off x="7315200" y="1417320"/>
            <a:ext cx="429768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0" name="stat1"/>
          <p:cNvSpPr txBox="1"/>
          <p:nvPr/>
        </p:nvSpPr>
        <p:spPr>
          <a:xfrm>
            <a:off x="758952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6000" dirty="0"/>
          </a:p>
        </p:txBody>
      </p:sp>
      <p:sp>
        <p:nvSpPr>
          <p:cNvPr id="21" name="stat1-l"/>
          <p:cNvSpPr txBox="1"/>
          <p:nvPr/>
        </p:nvSpPr>
        <p:spPr>
          <a:xfrm>
            <a:off x="7589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deep-learning drug response models catalogued in one review (Partin et al., 2023)</a:t>
            </a:r>
            <a:endParaRPr lang="en-US" sz="1500" dirty="0"/>
          </a:p>
        </p:txBody>
      </p:sp>
      <p:sp>
        <p:nvSpPr>
          <p:cNvPr id="22" name="stat2-bg"/>
          <p:cNvSpPr/>
          <p:nvPr/>
        </p:nvSpPr>
        <p:spPr>
          <a:xfrm>
            <a:off x="7315200" y="3886200"/>
            <a:ext cx="429768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3" name="stat2"/>
          <p:cNvSpPr txBox="1"/>
          <p:nvPr/>
        </p:nvSpPr>
        <p:spPr>
          <a:xfrm>
            <a:off x="7589520" y="4023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6000" dirty="0"/>
          </a:p>
        </p:txBody>
      </p:sp>
      <p:sp>
        <p:nvSpPr>
          <p:cNvPr id="24" name="stat2-l"/>
          <p:cNvSpPr txBox="1"/>
          <p:nvPr/>
        </p:nvSpPr>
        <p:spPr>
          <a:xfrm>
            <a:off x="7589520" y="4983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studies found that actually ran an MLOps pipeline in health care (Li et al., 2025)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papers (2023–2026) point to one combined gap</a:t>
            </a:r>
            <a:endParaRPr lang="en-US" sz="3200" dirty="0"/>
          </a:p>
        </p:txBody>
      </p:sp>
      <p:sp>
        <p:nvSpPr>
          <p:cNvPr id="3" name="lit-card-0"/>
          <p:cNvSpPr/>
          <p:nvPr/>
        </p:nvSpPr>
        <p:spPr>
          <a:xfrm>
            <a:off x="548640" y="1325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badge-lit-0"/>
          <p:cNvSpPr/>
          <p:nvPr/>
        </p:nvSpPr>
        <p:spPr>
          <a:xfrm>
            <a:off x="822960" y="1554480"/>
            <a:ext cx="640080" cy="64008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5" name="icon-lit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708099"/>
            <a:ext cx="332842" cy="332842"/>
          </a:xfrm>
          <a:prstGeom prst="rect">
            <a:avLst/>
          </a:prstGeom>
        </p:spPr>
      </p:pic>
      <p:sp>
        <p:nvSpPr>
          <p:cNvPr id="6" name="lit-h-0"/>
          <p:cNvSpPr txBox="1"/>
          <p:nvPr/>
        </p:nvSpPr>
        <p:spPr>
          <a:xfrm>
            <a:off x="160020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Models (8)</a:t>
            </a:r>
            <a:endParaRPr lang="en-US" sz="1800" dirty="0"/>
          </a:p>
        </p:txBody>
      </p:sp>
      <p:sp>
        <p:nvSpPr>
          <p:cNvPr id="7" name="lit-ids-0"/>
          <p:cNvSpPr txBox="1"/>
          <p:nvPr/>
        </p:nvSpPr>
        <p:spPr>
          <a:xfrm>
            <a:off x="16002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P2, P6–P10, P12, P13</a:t>
            </a:r>
            <a:endParaRPr lang="en-US" sz="1200" dirty="0"/>
          </a:p>
        </p:txBody>
      </p:sp>
      <p:sp>
        <p:nvSpPr>
          <p:cNvPr id="8" name="lit-b-0"/>
          <p:cNvSpPr txBox="1"/>
          <p:nvPr/>
        </p:nvSpPr>
        <p:spPr>
          <a:xfrm>
            <a:off x="82296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Graph drug encoders (GPDRP, TransCDR)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Attention / Transformer fusion (PASO, PharmaFormer)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Cell line → patient transfer (PANCDR)</a:t>
            </a:r>
            <a:endParaRPr lang="en-US" sz="1500" dirty="0"/>
          </a:p>
        </p:txBody>
      </p:sp>
      <p:sp>
        <p:nvSpPr>
          <p:cNvPr id="9" name="lit-card-1"/>
          <p:cNvSpPr/>
          <p:nvPr/>
        </p:nvSpPr>
        <p:spPr>
          <a:xfrm>
            <a:off x="4297680" y="1325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0" name="badge-lit-1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1" name="icon-lit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708099"/>
            <a:ext cx="332842" cy="332842"/>
          </a:xfrm>
          <a:prstGeom prst="rect">
            <a:avLst/>
          </a:prstGeom>
        </p:spPr>
      </p:pic>
      <p:sp>
        <p:nvSpPr>
          <p:cNvPr id="12" name="lit-h-1"/>
          <p:cNvSpPr txBox="1"/>
          <p:nvPr/>
        </p:nvSpPr>
        <p:spPr>
          <a:xfrm>
            <a:off x="534924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Reviews (4)</a:t>
            </a:r>
            <a:endParaRPr lang="en-US" sz="1800" dirty="0"/>
          </a:p>
        </p:txBody>
      </p:sp>
      <p:sp>
        <p:nvSpPr>
          <p:cNvPr id="13" name="lit-ids-1"/>
          <p:cNvSpPr txBox="1"/>
          <p:nvPr/>
        </p:nvSpPr>
        <p:spPr>
          <a:xfrm>
            <a:off x="534924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P1, P3, P14, P15</a:t>
            </a:r>
            <a:endParaRPr lang="en-US" sz="1200" dirty="0"/>
          </a:p>
        </p:txBody>
      </p:sp>
      <p:sp>
        <p:nvSpPr>
          <p:cNvPr id="14" name="lit-b-1"/>
          <p:cNvSpPr txBox="1"/>
          <p:nvPr/>
        </p:nvSpPr>
        <p:spPr>
          <a:xfrm>
            <a:off x="457200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Big accuracy drops on unseen datasets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 models often match complex 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Need validation on new patients and drugs</a:t>
            </a:r>
            <a:endParaRPr lang="en-US" sz="1500" dirty="0"/>
          </a:p>
        </p:txBody>
      </p:sp>
      <p:sp>
        <p:nvSpPr>
          <p:cNvPr id="15" name="lit-card-2"/>
          <p:cNvSpPr/>
          <p:nvPr/>
        </p:nvSpPr>
        <p:spPr>
          <a:xfrm>
            <a:off x="8046720" y="132588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6" name="badge-lit-2"/>
          <p:cNvSpPr/>
          <p:nvPr/>
        </p:nvSpPr>
        <p:spPr>
          <a:xfrm>
            <a:off x="8321040" y="1554480"/>
            <a:ext cx="640080" cy="64008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7" name="icon-lit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708099"/>
            <a:ext cx="332842" cy="332842"/>
          </a:xfrm>
          <a:prstGeom prst="rect">
            <a:avLst/>
          </a:prstGeom>
        </p:spPr>
      </p:pic>
      <p:sp>
        <p:nvSpPr>
          <p:cNvPr id="18" name="lit-h-2"/>
          <p:cNvSpPr txBox="1"/>
          <p:nvPr/>
        </p:nvSpPr>
        <p:spPr>
          <a:xfrm>
            <a:off x="909828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Cloud &amp; MLOps (3)</a:t>
            </a:r>
            <a:endParaRPr lang="en-US" sz="1800" dirty="0"/>
          </a:p>
        </p:txBody>
      </p:sp>
      <p:sp>
        <p:nvSpPr>
          <p:cNvPr id="19" name="lit-ids-2"/>
          <p:cNvSpPr txBox="1"/>
          <p:nvPr/>
        </p:nvSpPr>
        <p:spPr>
          <a:xfrm>
            <a:off x="909828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P4, P5, P11</a:t>
            </a:r>
            <a:endParaRPr lang="en-US" sz="1200" dirty="0"/>
          </a:p>
        </p:txBody>
      </p:sp>
      <p:sp>
        <p:nvSpPr>
          <p:cNvPr id="20" name="lit-b-2"/>
          <p:cNvSpPr txBox="1"/>
          <p:nvPr/>
        </p:nvSpPr>
        <p:spPr>
          <a:xfrm>
            <a:off x="8321040" y="24688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Serverless cuts RNA-seq runtime by up to 96%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Security and performance are open issues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Deployment and monitoring rarely done</a:t>
            </a:r>
            <a:endParaRPr lang="en-US" sz="1500" dirty="0"/>
          </a:p>
        </p:txBody>
      </p:sp>
      <p:sp>
        <p:nvSpPr>
          <p:cNvPr id="21" name="gap-box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22" name="gap-text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Gap: no reviewed work delivers an explainable multi-omics model as a secure, monitored, low-cost cloud service evaluated for both accuracy and service quality.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measurable objectives</a:t>
            </a:r>
            <a:endParaRPr lang="en-US" sz="3200" dirty="0"/>
          </a:p>
        </p:txBody>
      </p:sp>
      <p:sp>
        <p:nvSpPr>
          <p:cNvPr id="3" name="obj-card-0"/>
          <p:cNvSpPr/>
          <p:nvPr/>
        </p:nvSpPr>
        <p:spPr>
          <a:xfrm>
            <a:off x="548640" y="13716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obj-n-0"/>
          <p:cNvSpPr txBox="1"/>
          <p:nvPr/>
        </p:nvSpPr>
        <p:spPr>
          <a:xfrm>
            <a:off x="82296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3000" dirty="0"/>
          </a:p>
        </p:txBody>
      </p:sp>
      <p:sp>
        <p:nvSpPr>
          <p:cNvPr id="5" name="obj-h-0"/>
          <p:cNvSpPr txBox="1"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Leakage-free preprocessing</a:t>
            </a:r>
            <a:endParaRPr lang="en-US" sz="1800" dirty="0"/>
          </a:p>
        </p:txBody>
      </p:sp>
      <p:sp>
        <p:nvSpPr>
          <p:cNvPr id="6" name="obj-b-0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Statistics fitted on training cell lines only</a:t>
            </a:r>
            <a:endParaRPr lang="en-US" sz="1500" dirty="0"/>
          </a:p>
        </p:txBody>
      </p:sp>
      <p:sp>
        <p:nvSpPr>
          <p:cNvPr id="7" name="obj-card-1"/>
          <p:cNvSpPr/>
          <p:nvPr/>
        </p:nvSpPr>
        <p:spPr>
          <a:xfrm>
            <a:off x="4297680" y="13716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8" name="obj-n-1"/>
          <p:cNvSpPr txBox="1"/>
          <p:nvPr/>
        </p:nvSpPr>
        <p:spPr>
          <a:xfrm>
            <a:off x="457200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3000" dirty="0"/>
          </a:p>
        </p:txBody>
      </p:sp>
      <p:sp>
        <p:nvSpPr>
          <p:cNvPr id="9" name="obj-h-1"/>
          <p:cNvSpPr txBox="1"/>
          <p:nvPr/>
        </p:nvSpPr>
        <p:spPr>
          <a:xfrm>
            <a:off x="457200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Multimodal GNN + Transformer</a:t>
            </a:r>
            <a:endParaRPr lang="en-US" sz="1800" dirty="0"/>
          </a:p>
        </p:txBody>
      </p:sp>
      <p:sp>
        <p:nvSpPr>
          <p:cNvPr id="10" name="obj-b-1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Pearson ≥ 0.80, ROC-AUC ≥ 0.85 on unseen cell lines</a:t>
            </a:r>
            <a:endParaRPr lang="en-US" sz="1500" dirty="0"/>
          </a:p>
        </p:txBody>
      </p:sp>
      <p:sp>
        <p:nvSpPr>
          <p:cNvPr id="11" name="obj-card-2"/>
          <p:cNvSpPr/>
          <p:nvPr/>
        </p:nvSpPr>
        <p:spPr>
          <a:xfrm>
            <a:off x="8046720" y="13716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2" name="obj-n-2"/>
          <p:cNvSpPr txBox="1"/>
          <p:nvPr/>
        </p:nvSpPr>
        <p:spPr>
          <a:xfrm>
            <a:off x="832104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3000" dirty="0"/>
          </a:p>
        </p:txBody>
      </p:sp>
      <p:sp>
        <p:nvSpPr>
          <p:cNvPr id="13" name="obj-h-2"/>
          <p:cNvSpPr txBox="1"/>
          <p:nvPr/>
        </p:nvSpPr>
        <p:spPr>
          <a:xfrm>
            <a:off x="83210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Explainable predictions</a:t>
            </a:r>
            <a:endParaRPr lang="en-US" sz="1800" dirty="0"/>
          </a:p>
        </p:txBody>
      </p:sp>
      <p:sp>
        <p:nvSpPr>
          <p:cNvPr id="14" name="obj-b-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Modality + gene attributions with every result</a:t>
            </a:r>
            <a:endParaRPr lang="en-US" sz="1500" dirty="0"/>
          </a:p>
        </p:txBody>
      </p:sp>
      <p:sp>
        <p:nvSpPr>
          <p:cNvPr id="15" name="obj-card-3"/>
          <p:cNvSpPr/>
          <p:nvPr/>
        </p:nvSpPr>
        <p:spPr>
          <a:xfrm>
            <a:off x="54864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6" name="obj-n-3"/>
          <p:cNvSpPr txBox="1"/>
          <p:nvPr/>
        </p:nvSpPr>
        <p:spPr>
          <a:xfrm>
            <a:off x="82296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3000" dirty="0"/>
          </a:p>
        </p:txBody>
      </p:sp>
      <p:sp>
        <p:nvSpPr>
          <p:cNvPr id="17" name="obj-h-3"/>
          <p:cNvSpPr txBox="1"/>
          <p:nvPr/>
        </p:nvSpPr>
        <p:spPr>
          <a:xfrm>
            <a:off x="82296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Secure deployment as code</a:t>
            </a:r>
            <a:endParaRPr lang="en-US" sz="1800" dirty="0"/>
          </a:p>
        </p:txBody>
      </p:sp>
      <p:sp>
        <p:nvSpPr>
          <p:cNvPr id="18" name="obj-b-3"/>
          <p:cNvSpPr txBox="1"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CloudFormation stack; access tests pass</a:t>
            </a:r>
            <a:endParaRPr lang="en-US" sz="1500" dirty="0"/>
          </a:p>
        </p:txBody>
      </p:sp>
      <p:sp>
        <p:nvSpPr>
          <p:cNvPr id="19" name="obj-card-4"/>
          <p:cNvSpPr/>
          <p:nvPr/>
        </p:nvSpPr>
        <p:spPr>
          <a:xfrm>
            <a:off x="429768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0" name="obj-n-4"/>
          <p:cNvSpPr txBox="1"/>
          <p:nvPr/>
        </p:nvSpPr>
        <p:spPr>
          <a:xfrm>
            <a:off x="457200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3000" dirty="0"/>
          </a:p>
        </p:txBody>
      </p:sp>
      <p:sp>
        <p:nvSpPr>
          <p:cNvPr id="21" name="obj-h-4"/>
          <p:cNvSpPr txBox="1"/>
          <p:nvPr/>
        </p:nvSpPr>
        <p:spPr>
          <a:xfrm>
            <a:off x="457200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Performance &amp; observability</a:t>
            </a:r>
            <a:endParaRPr lang="en-US" sz="1800" dirty="0"/>
          </a:p>
        </p:txBody>
      </p:sp>
      <p:sp>
        <p:nvSpPr>
          <p:cNvPr id="22" name="obj-b-4"/>
          <p:cNvSpPr txBox="1"/>
          <p:nvPr/>
        </p:nvSpPr>
        <p:spPr>
          <a:xfrm>
            <a:off x="457200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Median latency ≤ 2 s; metrics and alarms live</a:t>
            </a:r>
            <a:endParaRPr lang="en-US" sz="1500" dirty="0"/>
          </a:p>
        </p:txBody>
      </p:sp>
      <p:sp>
        <p:nvSpPr>
          <p:cNvPr id="23" name="obj-card-5"/>
          <p:cNvSpPr/>
          <p:nvPr/>
        </p:nvSpPr>
        <p:spPr>
          <a:xfrm>
            <a:off x="8046720" y="388620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4" name="obj-n-5"/>
          <p:cNvSpPr txBox="1"/>
          <p:nvPr/>
        </p:nvSpPr>
        <p:spPr>
          <a:xfrm>
            <a:off x="8321040" y="4114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O6</a:t>
            </a:r>
            <a:endParaRPr lang="en-US" sz="3000" dirty="0"/>
          </a:p>
        </p:txBody>
      </p:sp>
      <p:sp>
        <p:nvSpPr>
          <p:cNvPr id="25" name="obj-h-5"/>
          <p:cNvSpPr txBox="1"/>
          <p:nvPr/>
        </p:nvSpPr>
        <p:spPr>
          <a:xfrm>
            <a:off x="8321040" y="4754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 control</a:t>
            </a:r>
            <a:endParaRPr lang="en-US" sz="1800" dirty="0"/>
          </a:p>
        </p:txBody>
      </p:sp>
      <p:sp>
        <p:nvSpPr>
          <p:cNvPr id="26" name="obj-b-5"/>
          <p:cNvSpPr txBox="1"/>
          <p:nvPr/>
        </p:nvSpPr>
        <p:spPr>
          <a:xfrm>
            <a:off x="832104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AWS Free plan; ≤ US$50/month on-demand equivalent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multi-omics profile to explained prediction</a:t>
            </a:r>
            <a:endParaRPr lang="en-US" sz="3200" dirty="0"/>
          </a:p>
        </p:txBody>
      </p:sp>
      <p:pic>
        <p:nvPicPr>
          <p:cNvPr id="3" name="fig2_system_architecture_workflow.png" descr="/private/tmp/claude-501/-Users-abhijeetsinha-Desktop-drugresponse/407171f4-2332-4dd6-a9ea-173092511cdf/scratchpad/report/fig2_system_architecture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7315200" cy="5039360"/>
          </a:xfrm>
          <a:prstGeom prst="rect">
            <a:avLst/>
          </a:prstGeom>
        </p:spPr>
      </p:pic>
      <p:sp>
        <p:nvSpPr>
          <p:cNvPr id="4" name="flow-dot-0"/>
          <p:cNvSpPr/>
          <p:nvPr/>
        </p:nvSpPr>
        <p:spPr>
          <a:xfrm>
            <a:off x="9098280" y="1325880"/>
            <a:ext cx="457200" cy="4572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5" name="flow-n-0"/>
          <p:cNvSpPr txBox="1"/>
          <p:nvPr/>
        </p:nvSpPr>
        <p:spPr>
          <a:xfrm>
            <a:off x="90982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flow-t-0"/>
          <p:cNvSpPr txBox="1"/>
          <p:nvPr/>
        </p:nvSpPr>
        <p:spPr>
          <a:xfrm>
            <a:off x="9692640" y="130759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a profile in the dashboard</a:t>
            </a:r>
            <a:endParaRPr lang="en-US" sz="1400" dirty="0"/>
          </a:p>
        </p:txBody>
      </p:sp>
      <p:sp>
        <p:nvSpPr>
          <p:cNvPr id="7" name="flow-dot-1"/>
          <p:cNvSpPr/>
          <p:nvPr/>
        </p:nvSpPr>
        <p:spPr>
          <a:xfrm>
            <a:off x="9098280" y="2286000"/>
            <a:ext cx="457200" cy="4572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8" name="flow-n-1"/>
          <p:cNvSpPr txBox="1"/>
          <p:nvPr/>
        </p:nvSpPr>
        <p:spPr>
          <a:xfrm>
            <a:off x="90982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flow-t-1"/>
          <p:cNvSpPr txBox="1"/>
          <p:nvPr/>
        </p:nvSpPr>
        <p:spPr>
          <a:xfrm>
            <a:off x="9692640" y="226771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authenticates and stores it in S3</a:t>
            </a:r>
            <a:endParaRPr lang="en-US" sz="1400" dirty="0"/>
          </a:p>
        </p:txBody>
      </p:sp>
      <p:sp>
        <p:nvSpPr>
          <p:cNvPr id="10" name="flow-dot-2"/>
          <p:cNvSpPr/>
          <p:nvPr/>
        </p:nvSpPr>
        <p:spPr>
          <a:xfrm>
            <a:off x="9098280" y="3246120"/>
            <a:ext cx="457200" cy="4572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1" name="flow-n-2"/>
          <p:cNvSpPr txBox="1"/>
          <p:nvPr/>
        </p:nvSpPr>
        <p:spPr>
          <a:xfrm>
            <a:off x="9098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flow-t-2"/>
          <p:cNvSpPr txBox="1"/>
          <p:nvPr/>
        </p:nvSpPr>
        <p:spPr>
          <a:xfrm>
            <a:off x="9692640" y="32278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predicts ln IC50 for 12 drugs</a:t>
            </a:r>
            <a:endParaRPr lang="en-US" sz="1400" dirty="0"/>
          </a:p>
        </p:txBody>
      </p:sp>
      <p:sp>
        <p:nvSpPr>
          <p:cNvPr id="13" name="flow-dot-3"/>
          <p:cNvSpPr/>
          <p:nvPr/>
        </p:nvSpPr>
        <p:spPr>
          <a:xfrm>
            <a:off x="9098280" y="4206240"/>
            <a:ext cx="457200" cy="4572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4" name="flow-n-3"/>
          <p:cNvSpPr txBox="1"/>
          <p:nvPr/>
        </p:nvSpPr>
        <p:spPr>
          <a:xfrm>
            <a:off x="90982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flow-t-3"/>
          <p:cNvSpPr txBox="1"/>
          <p:nvPr/>
        </p:nvSpPr>
        <p:spPr>
          <a:xfrm>
            <a:off x="9692640" y="41879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Explanations + results saved to RDS</a:t>
            </a:r>
            <a:endParaRPr lang="en-US" sz="1400" dirty="0"/>
          </a:p>
        </p:txBody>
      </p:sp>
      <p:sp>
        <p:nvSpPr>
          <p:cNvPr id="16" name="flow-dot-4"/>
          <p:cNvSpPr/>
          <p:nvPr/>
        </p:nvSpPr>
        <p:spPr>
          <a:xfrm>
            <a:off x="9098280" y="5166360"/>
            <a:ext cx="457200" cy="45720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7" name="flow-n-4"/>
          <p:cNvSpPr txBox="1"/>
          <p:nvPr/>
        </p:nvSpPr>
        <p:spPr>
          <a:xfrm>
            <a:off x="90982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flow-t-4"/>
          <p:cNvSpPr txBox="1"/>
          <p:nvPr/>
        </p:nvSpPr>
        <p:spPr>
          <a:xfrm>
            <a:off x="9692640" y="51480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CloudWatch tracks every prediction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DrugResponseNet: one token per data type</a:t>
            </a:r>
            <a:endParaRPr lang="en-US" sz="3200" dirty="0"/>
          </a:p>
        </p:txBody>
      </p:sp>
      <p:sp>
        <p:nvSpPr>
          <p:cNvPr id="3" name="mod-0"/>
          <p:cNvSpPr/>
          <p:nvPr/>
        </p:nvSpPr>
        <p:spPr>
          <a:xfrm>
            <a:off x="548640" y="13258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mod-h-0"/>
          <p:cNvSpPr txBox="1"/>
          <p:nvPr/>
        </p:nvSpPr>
        <p:spPr>
          <a:xfrm>
            <a:off x="731520" y="13990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Expression</a:t>
            </a:r>
            <a:endParaRPr lang="en-US" sz="1600" dirty="0"/>
          </a:p>
        </p:txBody>
      </p:sp>
      <p:sp>
        <p:nvSpPr>
          <p:cNvPr id="5" name="mod-b-0"/>
          <p:cNvSpPr txBox="1"/>
          <p:nvPr/>
        </p:nvSpPr>
        <p:spPr>
          <a:xfrm>
            <a:off x="731520" y="1737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1,000 genes</a:t>
            </a:r>
            <a:endParaRPr lang="en-US" sz="1300" dirty="0"/>
          </a:p>
        </p:txBody>
      </p:sp>
      <p:sp>
        <p:nvSpPr>
          <p:cNvPr id="6" name="mod-arrow-0"/>
          <p:cNvSpPr/>
          <p:nvPr/>
        </p:nvSpPr>
        <p:spPr>
          <a:xfrm>
            <a:off x="3611880" y="1709928"/>
            <a:ext cx="7315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7" name="mod-1"/>
          <p:cNvSpPr/>
          <p:nvPr/>
        </p:nvSpPr>
        <p:spPr>
          <a:xfrm>
            <a:off x="548640" y="231343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8" name="mod-h-1"/>
          <p:cNvSpPr txBox="1"/>
          <p:nvPr/>
        </p:nvSpPr>
        <p:spPr>
          <a:xfrm>
            <a:off x="731520" y="23865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Copy number</a:t>
            </a:r>
            <a:endParaRPr lang="en-US" sz="1600" dirty="0"/>
          </a:p>
        </p:txBody>
      </p:sp>
      <p:sp>
        <p:nvSpPr>
          <p:cNvPr id="9" name="mod-b-1"/>
          <p:cNvSpPr txBox="1"/>
          <p:nvPr/>
        </p:nvSpPr>
        <p:spPr>
          <a:xfrm>
            <a:off x="731520" y="27249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500 genes</a:t>
            </a:r>
            <a:endParaRPr lang="en-US" sz="1300" dirty="0"/>
          </a:p>
        </p:txBody>
      </p:sp>
      <p:sp>
        <p:nvSpPr>
          <p:cNvPr id="10" name="mod-arrow-1"/>
          <p:cNvSpPr/>
          <p:nvPr/>
        </p:nvSpPr>
        <p:spPr>
          <a:xfrm>
            <a:off x="3611880" y="2697480"/>
            <a:ext cx="7315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1" name="mod-2"/>
          <p:cNvSpPr/>
          <p:nvPr/>
        </p:nvSpPr>
        <p:spPr>
          <a:xfrm>
            <a:off x="548640" y="3300984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2" name="mod-h-2"/>
          <p:cNvSpPr txBox="1"/>
          <p:nvPr/>
        </p:nvSpPr>
        <p:spPr>
          <a:xfrm>
            <a:off x="731520" y="33741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Mutation</a:t>
            </a:r>
            <a:endParaRPr lang="en-US" sz="1600" dirty="0"/>
          </a:p>
        </p:txBody>
      </p:sp>
      <p:sp>
        <p:nvSpPr>
          <p:cNvPr id="13" name="mod-b-2"/>
          <p:cNvSpPr txBox="1"/>
          <p:nvPr/>
        </p:nvSpPr>
        <p:spPr>
          <a:xfrm>
            <a:off x="731520" y="37124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300 genes</a:t>
            </a:r>
            <a:endParaRPr lang="en-US" sz="1300" dirty="0"/>
          </a:p>
        </p:txBody>
      </p:sp>
      <p:sp>
        <p:nvSpPr>
          <p:cNvPr id="14" name="mod-arrow-2"/>
          <p:cNvSpPr/>
          <p:nvPr/>
        </p:nvSpPr>
        <p:spPr>
          <a:xfrm>
            <a:off x="3611880" y="3685032"/>
            <a:ext cx="7315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5" name="mod-3"/>
          <p:cNvSpPr/>
          <p:nvPr/>
        </p:nvSpPr>
        <p:spPr>
          <a:xfrm>
            <a:off x="548640" y="4288536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6" name="mod-h-3"/>
          <p:cNvSpPr txBox="1"/>
          <p:nvPr/>
        </p:nvSpPr>
        <p:spPr>
          <a:xfrm>
            <a:off x="731520" y="43616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Proteomics</a:t>
            </a:r>
            <a:endParaRPr lang="en-US" sz="1600" dirty="0"/>
          </a:p>
        </p:txBody>
      </p:sp>
      <p:sp>
        <p:nvSpPr>
          <p:cNvPr id="17" name="mod-b-3"/>
          <p:cNvSpPr txBox="1"/>
          <p:nvPr/>
        </p:nvSpPr>
        <p:spPr>
          <a:xfrm>
            <a:off x="731520" y="47000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200 proteins</a:t>
            </a:r>
            <a:endParaRPr lang="en-US" sz="1300" dirty="0"/>
          </a:p>
        </p:txBody>
      </p:sp>
      <p:sp>
        <p:nvSpPr>
          <p:cNvPr id="18" name="mod-arrow-3"/>
          <p:cNvSpPr/>
          <p:nvPr/>
        </p:nvSpPr>
        <p:spPr>
          <a:xfrm>
            <a:off x="3611880" y="4672584"/>
            <a:ext cx="7315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19" name="mod-4"/>
          <p:cNvSpPr/>
          <p:nvPr/>
        </p:nvSpPr>
        <p:spPr>
          <a:xfrm>
            <a:off x="548640" y="5276088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29F05"/>
          </a:solidFill>
          <a:ln w="9525">
            <a:solidFill>
              <a:srgbClr val="F29F05"/>
            </a:solidFill>
            <a:prstDash val="solid"/>
          </a:ln>
        </p:spPr>
      </p:sp>
      <p:sp>
        <p:nvSpPr>
          <p:cNvPr id="20" name="mod-h-4"/>
          <p:cNvSpPr txBox="1"/>
          <p:nvPr/>
        </p:nvSpPr>
        <p:spPr>
          <a:xfrm>
            <a:off x="731520" y="5349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Drug graph</a:t>
            </a:r>
            <a:endParaRPr lang="en-US" sz="1600" dirty="0"/>
          </a:p>
        </p:txBody>
      </p:sp>
      <p:sp>
        <p:nvSpPr>
          <p:cNvPr id="21" name="mod-b-4"/>
          <p:cNvSpPr txBox="1"/>
          <p:nvPr/>
        </p:nvSpPr>
        <p:spPr>
          <a:xfrm>
            <a:off x="731520" y="56875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RDKit atoms → 3-layer GCN</a:t>
            </a:r>
            <a:endParaRPr lang="en-US" sz="1300" dirty="0"/>
          </a:p>
        </p:txBody>
      </p:sp>
      <p:sp>
        <p:nvSpPr>
          <p:cNvPr id="22" name="mod-arrow-4"/>
          <p:cNvSpPr/>
          <p:nvPr/>
        </p:nvSpPr>
        <p:spPr>
          <a:xfrm>
            <a:off x="3611880" y="5660136"/>
            <a:ext cx="7315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3" name="fusion"/>
          <p:cNvSpPr/>
          <p:nvPr/>
        </p:nvSpPr>
        <p:spPr>
          <a:xfrm>
            <a:off x="4434840" y="1325880"/>
            <a:ext cx="2834640" cy="4727448"/>
          </a:xfrm>
          <a:prstGeom prst="roundRect">
            <a:avLst>
              <a:gd name="adj" fmla="val 258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24" name="fusion-h"/>
          <p:cNvSpPr txBox="1"/>
          <p:nvPr/>
        </p:nvSpPr>
        <p:spPr>
          <a:xfrm>
            <a:off x="461772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Transformer fusion</a:t>
            </a:r>
            <a:endParaRPr lang="en-US" sz="1900" dirty="0"/>
          </a:p>
        </p:txBody>
      </p:sp>
      <p:sp>
        <p:nvSpPr>
          <p:cNvPr id="25" name="fusion-b"/>
          <p:cNvSpPr txBox="1"/>
          <p:nvPr/>
        </p:nvSpPr>
        <p:spPr>
          <a:xfrm>
            <a:off x="4617720" y="20574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[CLS] token attends to all tokens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2 layers · 4 heads · d = 128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Missing modalities masked out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Modality dropout 0.15 in training</a:t>
            </a:r>
            <a:endParaRPr lang="en-US" sz="1400" dirty="0"/>
          </a:p>
        </p:txBody>
      </p:sp>
      <p:sp>
        <p:nvSpPr>
          <p:cNvPr id="26" name="fusion-params"/>
          <p:cNvSpPr txBox="1"/>
          <p:nvPr/>
        </p:nvSpPr>
        <p:spPr>
          <a:xfrm>
            <a:off x="4617720" y="5257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1.15 M parameters</a:t>
            </a:r>
            <a:endParaRPr lang="en-US" sz="1600" dirty="0"/>
          </a:p>
        </p:txBody>
      </p:sp>
      <p:sp>
        <p:nvSpPr>
          <p:cNvPr id="27" name="out-arrow"/>
          <p:cNvSpPr/>
          <p:nvPr/>
        </p:nvSpPr>
        <p:spPr>
          <a:xfrm>
            <a:off x="7315200" y="3657600"/>
            <a:ext cx="68580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  <a:tailEnd type="triangle"/>
          </a:ln>
        </p:spPr>
      </p:sp>
      <p:sp>
        <p:nvSpPr>
          <p:cNvPr id="28" name="out-card"/>
          <p:cNvSpPr/>
          <p:nvPr/>
        </p:nvSpPr>
        <p:spPr>
          <a:xfrm>
            <a:off x="8092440" y="13258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9" name="out-h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</a:t>
            </a:r>
            <a:endParaRPr lang="en-US" sz="1800" dirty="0"/>
          </a:p>
        </p:txBody>
      </p:sp>
      <p:sp>
        <p:nvSpPr>
          <p:cNvPr id="30" name="out-b"/>
          <p:cNvSpPr txBox="1"/>
          <p:nvPr/>
        </p:nvSpPr>
        <p:spPr>
          <a:xfrm>
            <a:off x="8321040" y="18745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ln IC50 and IC50 (µM) per drug; sensitive vs resistant against the drug's training median</a:t>
            </a:r>
            <a:endParaRPr lang="en-US" sz="1500" dirty="0"/>
          </a:p>
        </p:txBody>
      </p:sp>
      <p:sp>
        <p:nvSpPr>
          <p:cNvPr id="31" name="xai-card"/>
          <p:cNvSpPr/>
          <p:nvPr/>
        </p:nvSpPr>
        <p:spPr>
          <a:xfrm>
            <a:off x="8092440" y="3611880"/>
            <a:ext cx="3520440" cy="2441448"/>
          </a:xfrm>
          <a:prstGeom prst="roundRect">
            <a:avLst>
              <a:gd name="adj" fmla="val 2996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32" name="badge-xai"/>
          <p:cNvSpPr/>
          <p:nvPr/>
        </p:nvSpPr>
        <p:spPr>
          <a:xfrm>
            <a:off x="8321040" y="3794760"/>
            <a:ext cx="548640" cy="5486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33" name="icon-x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2714" y="3926434"/>
            <a:ext cx="285293" cy="285293"/>
          </a:xfrm>
          <a:prstGeom prst="rect">
            <a:avLst/>
          </a:prstGeom>
        </p:spPr>
      </p:pic>
      <p:sp>
        <p:nvSpPr>
          <p:cNvPr id="34" name="xai-h"/>
          <p:cNvSpPr txBox="1"/>
          <p:nvPr/>
        </p:nvSpPr>
        <p:spPr>
          <a:xfrm>
            <a:off x="9006840" y="38587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Explanations</a:t>
            </a:r>
            <a:endParaRPr lang="en-US" sz="1800" dirty="0"/>
          </a:p>
        </p:txBody>
      </p:sp>
      <p:sp>
        <p:nvSpPr>
          <p:cNvPr id="35" name="xai-b"/>
          <p:cNvSpPr txBox="1"/>
          <p:nvPr/>
        </p:nvSpPr>
        <p:spPr>
          <a:xfrm>
            <a:off x="8321040" y="44805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Attention weights show which data type mattered; gradient × input ranks the top genes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on AWS from one CloudFormation template</a:t>
            </a:r>
            <a:endParaRPr lang="en-US" sz="3200" dirty="0"/>
          </a:p>
        </p:txBody>
      </p:sp>
      <p:pic>
        <p:nvPicPr>
          <p:cNvPr id="3" name="fig1_cloud_deployment_architecture.png" descr="/private/tmp/claude-501/-Users-abhijeetsinha-Desktop-drugresponse/407171f4-2332-4dd6-a9ea-173092511cdf/scratchpad/report/fig1_cloud_deployment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452360" cy="5113147"/>
          </a:xfrm>
          <a:prstGeom prst="rect">
            <a:avLst/>
          </a:prstGeom>
        </p:spPr>
      </p:pic>
      <p:sp>
        <p:nvSpPr>
          <p:cNvPr id="4" name="cloud-stat-0"/>
          <p:cNvSpPr/>
          <p:nvPr/>
        </p:nvSpPr>
        <p:spPr>
          <a:xfrm>
            <a:off x="8321040" y="12801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5" name="cloud-stat-n-0"/>
          <p:cNvSpPr txBox="1"/>
          <p:nvPr/>
        </p:nvSpPr>
        <p:spPr>
          <a:xfrm>
            <a:off x="8549640" y="138988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6" name="cloud-stat-l-0"/>
          <p:cNvSpPr txBox="1"/>
          <p:nvPr/>
        </p:nvSpPr>
        <p:spPr>
          <a:xfrm>
            <a:off x="8549640" y="2148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resources in stack drugresp-stack</a:t>
            </a:r>
            <a:endParaRPr lang="en-US" sz="1400" dirty="0"/>
          </a:p>
        </p:txBody>
      </p:sp>
      <p:sp>
        <p:nvSpPr>
          <p:cNvPr id="7" name="cloud-stat-1"/>
          <p:cNvSpPr/>
          <p:nvPr/>
        </p:nvSpPr>
        <p:spPr>
          <a:xfrm>
            <a:off x="8321040" y="297180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8" name="cloud-stat-n-1"/>
          <p:cNvSpPr txBox="1"/>
          <p:nvPr/>
        </p:nvSpPr>
        <p:spPr>
          <a:xfrm>
            <a:off x="8549640" y="308152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9" name="cloud-stat-l-1"/>
          <p:cNvSpPr txBox="1"/>
          <p:nvPr/>
        </p:nvSpPr>
        <p:spPr>
          <a:xfrm>
            <a:off x="854964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services in use</a:t>
            </a:r>
            <a:endParaRPr lang="en-US" sz="1400" dirty="0"/>
          </a:p>
        </p:txBody>
      </p:sp>
      <p:sp>
        <p:nvSpPr>
          <p:cNvPr id="10" name="cloud-stat-2"/>
          <p:cNvSpPr/>
          <p:nvPr/>
        </p:nvSpPr>
        <p:spPr>
          <a:xfrm>
            <a:off x="8321040" y="466344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1" name="cloud-stat-n-2"/>
          <p:cNvSpPr txBox="1"/>
          <p:nvPr/>
        </p:nvSpPr>
        <p:spPr>
          <a:xfrm>
            <a:off x="8549640" y="477316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cloud-stat-l-2"/>
          <p:cNvSpPr txBox="1"/>
          <p:nvPr/>
        </p:nvSpPr>
        <p:spPr>
          <a:xfrm>
            <a:off x="8549640" y="5532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commands to deploy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built into the stack</a:t>
            </a:r>
            <a:endParaRPr lang="en-US" sz="3200" dirty="0"/>
          </a:p>
        </p:txBody>
      </p:sp>
      <p:sp>
        <p:nvSpPr>
          <p:cNvPr id="3" name="badge-sec-0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4" name="icon-se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558138"/>
            <a:ext cx="404165" cy="404165"/>
          </a:xfrm>
          <a:prstGeom prst="rect">
            <a:avLst/>
          </a:prstGeom>
        </p:spPr>
      </p:pic>
      <p:sp>
        <p:nvSpPr>
          <p:cNvPr id="5" name="sec-h-0"/>
          <p:cNvSpPr txBox="1"/>
          <p:nvPr/>
        </p:nvSpPr>
        <p:spPr>
          <a:xfrm>
            <a:off x="1554480" y="1389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Private database</a:t>
            </a:r>
            <a:endParaRPr lang="en-US" sz="1900" dirty="0"/>
          </a:p>
        </p:txBody>
      </p:sp>
      <p:sp>
        <p:nvSpPr>
          <p:cNvPr id="6" name="sec-b-0"/>
          <p:cNvSpPr txBox="1"/>
          <p:nvPr/>
        </p:nvSpPr>
        <p:spPr>
          <a:xfrm>
            <a:off x="1554480" y="1810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RDS in private subnets; port 5432 only from the app</a:t>
            </a:r>
            <a:endParaRPr lang="en-US" sz="1500" dirty="0"/>
          </a:p>
        </p:txBody>
      </p:sp>
      <p:sp>
        <p:nvSpPr>
          <p:cNvPr id="7" name="badge-sec-1"/>
          <p:cNvSpPr/>
          <p:nvPr/>
        </p:nvSpPr>
        <p:spPr>
          <a:xfrm>
            <a:off x="6126480" y="13716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8" name="icon-se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018" y="1558138"/>
            <a:ext cx="404165" cy="404165"/>
          </a:xfrm>
          <a:prstGeom prst="rect">
            <a:avLst/>
          </a:prstGeom>
        </p:spPr>
      </p:pic>
      <p:sp>
        <p:nvSpPr>
          <p:cNvPr id="9" name="sec-h-1"/>
          <p:cNvSpPr txBox="1"/>
          <p:nvPr/>
        </p:nvSpPr>
        <p:spPr>
          <a:xfrm>
            <a:off x="7132320" y="1389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Login and roles</a:t>
            </a:r>
            <a:endParaRPr lang="en-US" sz="1900" dirty="0"/>
          </a:p>
        </p:txBody>
      </p:sp>
      <p:sp>
        <p:nvSpPr>
          <p:cNvPr id="10" name="sec-b-1"/>
          <p:cNvSpPr txBox="1"/>
          <p:nvPr/>
        </p:nvSpPr>
        <p:spPr>
          <a:xfrm>
            <a:off x="7132320" y="18105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HTTPS, JWT, admin / researcher / clinician, sample ownership</a:t>
            </a:r>
            <a:endParaRPr lang="en-US" sz="1500" dirty="0"/>
          </a:p>
        </p:txBody>
      </p:sp>
      <p:sp>
        <p:nvSpPr>
          <p:cNvPr id="11" name="badge-sec-2"/>
          <p:cNvSpPr/>
          <p:nvPr/>
        </p:nvSpPr>
        <p:spPr>
          <a:xfrm>
            <a:off x="548640" y="29718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2" name="icon-se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3158338"/>
            <a:ext cx="404165" cy="404165"/>
          </a:xfrm>
          <a:prstGeom prst="rect">
            <a:avLst/>
          </a:prstGeom>
        </p:spPr>
      </p:pic>
      <p:sp>
        <p:nvSpPr>
          <p:cNvPr id="13" name="sec-h-2"/>
          <p:cNvSpPr txBox="1"/>
          <p:nvPr/>
        </p:nvSpPr>
        <p:spPr>
          <a:xfrm>
            <a:off x="1554480" y="2990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secrets in code</a:t>
            </a:r>
            <a:endParaRPr lang="en-US" sz="1900" dirty="0"/>
          </a:p>
        </p:txBody>
      </p:sp>
      <p:sp>
        <p:nvSpPr>
          <p:cNvPr id="14" name="sec-b-2"/>
          <p:cNvSpPr txBox="1"/>
          <p:nvPr/>
        </p:nvSpPr>
        <p:spPr>
          <a:xfrm>
            <a:off x="1554480" y="34107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SecureString parameters in SSM Parameter Store</a:t>
            </a:r>
            <a:endParaRPr lang="en-US" sz="1500" dirty="0"/>
          </a:p>
        </p:txBody>
      </p:sp>
      <p:sp>
        <p:nvSpPr>
          <p:cNvPr id="15" name="badge-sec-3"/>
          <p:cNvSpPr/>
          <p:nvPr/>
        </p:nvSpPr>
        <p:spPr>
          <a:xfrm>
            <a:off x="6126480" y="29718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6" name="icon-se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018" y="3158338"/>
            <a:ext cx="404165" cy="404165"/>
          </a:xfrm>
          <a:prstGeom prst="rect">
            <a:avLst/>
          </a:prstGeom>
        </p:spPr>
      </p:pic>
      <p:sp>
        <p:nvSpPr>
          <p:cNvPr id="17" name="sec-h-3"/>
          <p:cNvSpPr txBox="1"/>
          <p:nvPr/>
        </p:nvSpPr>
        <p:spPr>
          <a:xfrm>
            <a:off x="7132320" y="2990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SSH</a:t>
            </a:r>
            <a:endParaRPr lang="en-US" sz="1900" dirty="0"/>
          </a:p>
        </p:txBody>
      </p:sp>
      <p:sp>
        <p:nvSpPr>
          <p:cNvPr id="18" name="sec-b-3"/>
          <p:cNvSpPr txBox="1"/>
          <p:nvPr/>
        </p:nvSpPr>
        <p:spPr>
          <a:xfrm>
            <a:off x="7132320" y="34107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Managed through SSM Run Command; IMDSv2 enforced</a:t>
            </a:r>
            <a:endParaRPr lang="en-US" sz="1500" dirty="0"/>
          </a:p>
        </p:txBody>
      </p:sp>
      <p:sp>
        <p:nvSpPr>
          <p:cNvPr id="19" name="badge-sec-4"/>
          <p:cNvSpPr/>
          <p:nvPr/>
        </p:nvSpPr>
        <p:spPr>
          <a:xfrm>
            <a:off x="548640" y="45720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20" name="icon-se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8" y="4758538"/>
            <a:ext cx="404165" cy="404165"/>
          </a:xfrm>
          <a:prstGeom prst="rect">
            <a:avLst/>
          </a:prstGeom>
        </p:spPr>
      </p:pic>
      <p:sp>
        <p:nvSpPr>
          <p:cNvPr id="21" name="sec-h-4"/>
          <p:cNvSpPr txBox="1"/>
          <p:nvPr/>
        </p:nvSpPr>
        <p:spPr>
          <a:xfrm>
            <a:off x="1554480" y="4590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Encrypted everywhere</a:t>
            </a:r>
            <a:endParaRPr lang="en-US" sz="1900" dirty="0"/>
          </a:p>
        </p:txBody>
      </p:sp>
      <p:sp>
        <p:nvSpPr>
          <p:cNvPr id="22" name="sec-b-4"/>
          <p:cNvSpPr txBox="1"/>
          <p:nvPr/>
        </p:nvSpPr>
        <p:spPr>
          <a:xfrm>
            <a:off x="1554480" y="5010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S3 SSE + HTTPS-only policy; encrypted EBS and RDS</a:t>
            </a:r>
            <a:endParaRPr lang="en-US" sz="1500" dirty="0"/>
          </a:p>
        </p:txBody>
      </p:sp>
      <p:sp>
        <p:nvSpPr>
          <p:cNvPr id="23" name="badge-sec-5"/>
          <p:cNvSpPr/>
          <p:nvPr/>
        </p:nvSpPr>
        <p:spPr>
          <a:xfrm>
            <a:off x="6126480" y="4572000"/>
            <a:ext cx="777240" cy="77724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24" name="icon-sec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3018" y="4758538"/>
            <a:ext cx="404165" cy="404165"/>
          </a:xfrm>
          <a:prstGeom prst="rect">
            <a:avLst/>
          </a:prstGeom>
        </p:spPr>
      </p:pic>
      <p:sp>
        <p:nvSpPr>
          <p:cNvPr id="25" name="sec-h-5"/>
          <p:cNvSpPr txBox="1"/>
          <p:nvPr/>
        </p:nvSpPr>
        <p:spPr>
          <a:xfrm>
            <a:off x="7132320" y="45902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Audit and alarms</a:t>
            </a:r>
            <a:endParaRPr lang="en-US" sz="1900" dirty="0"/>
          </a:p>
        </p:txBody>
      </p:sp>
      <p:sp>
        <p:nvSpPr>
          <p:cNvPr id="26" name="sec-b-5"/>
          <p:cNvSpPr txBox="1"/>
          <p:nvPr/>
        </p:nvSpPr>
        <p:spPr>
          <a:xfrm>
            <a:off x="7132320" y="501091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CloudTrail events; 5 CloudWatch alarms → SNS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synthetic benchmark with planted biology</a:t>
            </a:r>
            <a:endParaRPr lang="en-US" sz="3200" dirty="0"/>
          </a:p>
        </p:txBody>
      </p:sp>
      <p:sp>
        <p:nvSpPr>
          <p:cNvPr id="3" name="ds-0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ds-n-0"/>
          <p:cNvSpPr txBox="1"/>
          <p:nvPr/>
        </p:nvSpPr>
        <p:spPr>
          <a:xfrm>
            <a:off x="77724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400" dirty="0"/>
          </a:p>
        </p:txBody>
      </p:sp>
      <p:sp>
        <p:nvSpPr>
          <p:cNvPr id="5" name="ds-l-0"/>
          <p:cNvSpPr txBox="1"/>
          <p:nvPr/>
        </p:nvSpPr>
        <p:spPr>
          <a:xfrm>
            <a:off x="77724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cell lines, 8 lineages</a:t>
            </a:r>
            <a:endParaRPr lang="en-US" sz="1500" dirty="0"/>
          </a:p>
        </p:txBody>
      </p:sp>
      <p:sp>
        <p:nvSpPr>
          <p:cNvPr id="6" name="ds-1"/>
          <p:cNvSpPr/>
          <p:nvPr/>
        </p:nvSpPr>
        <p:spPr>
          <a:xfrm>
            <a:off x="336042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7" name="ds-n-1"/>
          <p:cNvSpPr txBox="1"/>
          <p:nvPr/>
        </p:nvSpPr>
        <p:spPr>
          <a:xfrm>
            <a:off x="358902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ds-l-1"/>
          <p:cNvSpPr txBox="1"/>
          <p:nvPr/>
        </p:nvSpPr>
        <p:spPr>
          <a:xfrm>
            <a:off x="358902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GDSC drugs</a:t>
            </a:r>
            <a:endParaRPr lang="en-US" sz="1500" dirty="0"/>
          </a:p>
        </p:txBody>
      </p:sp>
      <p:sp>
        <p:nvSpPr>
          <p:cNvPr id="9" name="ds-2"/>
          <p:cNvSpPr/>
          <p:nvPr/>
        </p:nvSpPr>
        <p:spPr>
          <a:xfrm>
            <a:off x="617220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0" name="ds-n-2"/>
          <p:cNvSpPr txBox="1"/>
          <p:nvPr/>
        </p:nvSpPr>
        <p:spPr>
          <a:xfrm>
            <a:off x="640080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5,101</a:t>
            </a:r>
            <a:endParaRPr lang="en-US" sz="4400" dirty="0"/>
          </a:p>
        </p:txBody>
      </p:sp>
      <p:sp>
        <p:nvSpPr>
          <p:cNvPr id="11" name="ds-l-2"/>
          <p:cNvSpPr txBox="1"/>
          <p:nvPr/>
        </p:nvSpPr>
        <p:spPr>
          <a:xfrm>
            <a:off x="640080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response pairs</a:t>
            </a:r>
            <a:endParaRPr lang="en-US" sz="1500" dirty="0"/>
          </a:p>
        </p:txBody>
      </p:sp>
      <p:sp>
        <p:nvSpPr>
          <p:cNvPr id="12" name="ds-3"/>
          <p:cNvSpPr/>
          <p:nvPr/>
        </p:nvSpPr>
        <p:spPr>
          <a:xfrm>
            <a:off x="898398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3" name="ds-n-3"/>
          <p:cNvSpPr txBox="1"/>
          <p:nvPr/>
        </p:nvSpPr>
        <p:spPr>
          <a:xfrm>
            <a:off x="9212580" y="150876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4400" dirty="0"/>
          </a:p>
        </p:txBody>
      </p:sp>
      <p:sp>
        <p:nvSpPr>
          <p:cNvPr id="14" name="ds-l-3"/>
          <p:cNvSpPr txBox="1"/>
          <p:nvPr/>
        </p:nvSpPr>
        <p:spPr>
          <a:xfrm>
            <a:off x="921258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selected omics features</a:t>
            </a:r>
            <a:endParaRPr lang="en-US" sz="1500" dirty="0"/>
          </a:p>
        </p:txBody>
      </p:sp>
      <p:sp>
        <p:nvSpPr>
          <p:cNvPr id="15" name="ds-notes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Cell-line-blind split: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3,566 / 763 / 772 pairs; test cell lines never seen in training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Leakage-free: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feature selection and z-scores fitted on training cell lines only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Planted effects: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EGFR → erlotinib, BRCA1 → olaparib, ABCB1 → doxorubicin resistance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Real data next: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DepMap + GDSC converter and TCGA validation are implemented but not yet run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Beats global baselines; a per-drug linear model scores higher</a:t>
            </a:r>
            <a:endParaRPr lang="en-US" sz="3200" dirty="0"/>
          </a:p>
        </p:txBody>
      </p:sp>
      <p:sp>
        <p:nvSpPr>
          <p:cNvPr id="3" name="baseline-chart-title"/>
          <p:cNvSpPr txBox="1"/>
          <p:nvPr/>
        </p:nvSpPr>
        <p:spPr>
          <a:xfrm>
            <a:off x="548640" y="1325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Pearson r on 772 pairs from unseen cell lines</a:t>
            </a:r>
            <a:endParaRPr lang="en-US" sz="1500" dirty="0"/>
          </a:p>
        </p:txBody>
      </p:sp>
      <p:sp>
        <p:nvSpPr>
          <p:cNvPr id="4" name="baseline-chart-lab-0"/>
          <p:cNvSpPr txBox="1"/>
          <p:nvPr/>
        </p:nvSpPr>
        <p:spPr>
          <a:xfrm>
            <a:off x="54864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Per-drug mean</a:t>
            </a:r>
            <a:endParaRPr lang="en-US" sz="1500" dirty="0"/>
          </a:p>
        </p:txBody>
      </p:sp>
      <p:sp>
        <p:nvSpPr>
          <p:cNvPr id="5" name="baseline-chart-bar-0"/>
          <p:cNvSpPr/>
          <p:nvPr/>
        </p:nvSpPr>
        <p:spPr>
          <a:xfrm>
            <a:off x="2560320" y="1975104"/>
            <a:ext cx="1666768" cy="347472"/>
          </a:xfrm>
          <a:prstGeom prst="rect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6" name="baseline-chart-val-0"/>
          <p:cNvSpPr txBox="1"/>
          <p:nvPr/>
        </p:nvSpPr>
        <p:spPr>
          <a:xfrm>
            <a:off x="4318528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0.434</a:t>
            </a:r>
            <a:endParaRPr lang="en-US" sz="1500" dirty="0"/>
          </a:p>
        </p:txBody>
      </p:sp>
      <p:sp>
        <p:nvSpPr>
          <p:cNvPr id="7" name="baseline-chart-lab-1"/>
          <p:cNvSpPr txBox="1"/>
          <p:nvPr/>
        </p:nvSpPr>
        <p:spPr>
          <a:xfrm>
            <a:off x="548640" y="26334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Ridge (global)</a:t>
            </a:r>
            <a:endParaRPr lang="en-US" sz="1500" dirty="0"/>
          </a:p>
        </p:txBody>
      </p:sp>
      <p:sp>
        <p:nvSpPr>
          <p:cNvPr id="8" name="baseline-chart-bar-1"/>
          <p:cNvSpPr/>
          <p:nvPr/>
        </p:nvSpPr>
        <p:spPr>
          <a:xfrm>
            <a:off x="2560320" y="2688336"/>
            <a:ext cx="1981688" cy="347472"/>
          </a:xfrm>
          <a:prstGeom prst="rect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9" name="baseline-chart-val-1"/>
          <p:cNvSpPr txBox="1"/>
          <p:nvPr/>
        </p:nvSpPr>
        <p:spPr>
          <a:xfrm>
            <a:off x="4633448" y="26334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0.516</a:t>
            </a:r>
            <a:endParaRPr lang="en-US" sz="1500" dirty="0"/>
          </a:p>
        </p:txBody>
      </p:sp>
      <p:sp>
        <p:nvSpPr>
          <p:cNvPr id="10" name="baseline-chart-lab-2"/>
          <p:cNvSpPr txBox="1"/>
          <p:nvPr/>
        </p:nvSpPr>
        <p:spPr>
          <a:xfrm>
            <a:off x="548640" y="33467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1" name="baseline-chart-bar-2"/>
          <p:cNvSpPr/>
          <p:nvPr/>
        </p:nvSpPr>
        <p:spPr>
          <a:xfrm>
            <a:off x="2560320" y="3401568"/>
            <a:ext cx="2964851" cy="347472"/>
          </a:xfrm>
          <a:prstGeom prst="rect">
            <a:avLst/>
          </a:prstGeom>
          <a:solidFill>
            <a:srgbClr val="5B6B7A"/>
          </a:solidFill>
          <a:ln w="12700">
            <a:solidFill>
              <a:srgbClr val="5B6B7A"/>
            </a:solidFill>
            <a:prstDash val="solid"/>
          </a:ln>
        </p:spPr>
      </p:sp>
      <p:sp>
        <p:nvSpPr>
          <p:cNvPr id="12" name="baseline-chart-val-2"/>
          <p:cNvSpPr txBox="1"/>
          <p:nvPr/>
        </p:nvSpPr>
        <p:spPr>
          <a:xfrm>
            <a:off x="5616611" y="3346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0.772</a:t>
            </a:r>
            <a:endParaRPr lang="en-US" sz="1500" dirty="0"/>
          </a:p>
        </p:txBody>
      </p:sp>
      <p:sp>
        <p:nvSpPr>
          <p:cNvPr id="13" name="baseline-chart-lab-3"/>
          <p:cNvSpPr txBox="1"/>
          <p:nvPr/>
        </p:nvSpPr>
        <p:spPr>
          <a:xfrm>
            <a:off x="548640" y="40599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DrugResponseNet</a:t>
            </a:r>
            <a:endParaRPr lang="en-US" sz="1500" dirty="0"/>
          </a:p>
        </p:txBody>
      </p:sp>
      <p:sp>
        <p:nvSpPr>
          <p:cNvPr id="14" name="baseline-chart-bar-3"/>
          <p:cNvSpPr/>
          <p:nvPr/>
        </p:nvSpPr>
        <p:spPr>
          <a:xfrm>
            <a:off x="2560320" y="4114800"/>
            <a:ext cx="3214482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15" name="baseline-chart-val-3"/>
          <p:cNvSpPr txBox="1"/>
          <p:nvPr/>
        </p:nvSpPr>
        <p:spPr>
          <a:xfrm>
            <a:off x="5866242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0.837</a:t>
            </a:r>
            <a:endParaRPr lang="en-US" sz="1500" dirty="0"/>
          </a:p>
        </p:txBody>
      </p:sp>
      <p:sp>
        <p:nvSpPr>
          <p:cNvPr id="16" name="baseline-chart-lab-4"/>
          <p:cNvSpPr txBox="1"/>
          <p:nvPr/>
        </p:nvSpPr>
        <p:spPr>
          <a:xfrm>
            <a:off x="548640" y="4773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Ridge (per drug)</a:t>
            </a:r>
            <a:endParaRPr lang="en-US" sz="1500" dirty="0"/>
          </a:p>
        </p:txBody>
      </p:sp>
      <p:sp>
        <p:nvSpPr>
          <p:cNvPr id="17" name="baseline-chart-bar-4"/>
          <p:cNvSpPr/>
          <p:nvPr/>
        </p:nvSpPr>
        <p:spPr>
          <a:xfrm>
            <a:off x="2560320" y="4828032"/>
            <a:ext cx="3487156" cy="347472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8" name="baseline-chart-val-4"/>
          <p:cNvSpPr txBox="1"/>
          <p:nvPr/>
        </p:nvSpPr>
        <p:spPr>
          <a:xfrm>
            <a:off x="6138916" y="4773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0.908</a:t>
            </a:r>
            <a:endParaRPr lang="en-US" sz="1500" dirty="0"/>
          </a:p>
        </p:txBody>
      </p:sp>
      <p:sp>
        <p:nvSpPr>
          <p:cNvPr id="19" name="baseline-note"/>
          <p:cNvSpPr txBox="1"/>
          <p:nvPr/>
        </p:nvSpPr>
        <p:spPr>
          <a:xfrm>
            <a:off x="54864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Same split, features and thresholds for every model</a:t>
            </a:r>
            <a:endParaRPr lang="en-US" sz="1300" dirty="0"/>
          </a:p>
        </p:txBody>
      </p:sp>
      <p:sp>
        <p:nvSpPr>
          <p:cNvPr id="20" name="ms-n-0"/>
          <p:cNvSpPr txBox="1"/>
          <p:nvPr/>
        </p:nvSpPr>
        <p:spPr>
          <a:xfrm>
            <a:off x="7772400" y="1371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0.837</a:t>
            </a:r>
            <a:endParaRPr lang="en-US" sz="2600" dirty="0"/>
          </a:p>
        </p:txBody>
      </p:sp>
      <p:sp>
        <p:nvSpPr>
          <p:cNvPr id="21" name="ms-l-0"/>
          <p:cNvSpPr txBox="1"/>
          <p:nvPr/>
        </p:nvSpPr>
        <p:spPr>
          <a:xfrm>
            <a:off x="7772400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Pearson r</a:t>
            </a:r>
            <a:endParaRPr lang="en-US" sz="1200" dirty="0"/>
          </a:p>
        </p:txBody>
      </p:sp>
      <p:sp>
        <p:nvSpPr>
          <p:cNvPr id="22" name="ms-n-1"/>
          <p:cNvSpPr txBox="1"/>
          <p:nvPr/>
        </p:nvSpPr>
        <p:spPr>
          <a:xfrm>
            <a:off x="9079992" y="1371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0.866</a:t>
            </a:r>
            <a:endParaRPr lang="en-US" sz="2600" dirty="0"/>
          </a:p>
        </p:txBody>
      </p:sp>
      <p:sp>
        <p:nvSpPr>
          <p:cNvPr id="23" name="ms-l-1"/>
          <p:cNvSpPr txBox="1"/>
          <p:nvPr/>
        </p:nvSpPr>
        <p:spPr>
          <a:xfrm>
            <a:off x="9079992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ROC-AUC</a:t>
            </a:r>
            <a:endParaRPr lang="en-US" sz="1200" dirty="0"/>
          </a:p>
        </p:txBody>
      </p:sp>
      <p:sp>
        <p:nvSpPr>
          <p:cNvPr id="24" name="ms-n-2"/>
          <p:cNvSpPr txBox="1"/>
          <p:nvPr/>
        </p:nvSpPr>
        <p:spPr>
          <a:xfrm>
            <a:off x="10387584" y="1371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1.077</a:t>
            </a:r>
            <a:endParaRPr lang="en-US" sz="2600" dirty="0"/>
          </a:p>
        </p:txBody>
      </p:sp>
      <p:sp>
        <p:nvSpPr>
          <p:cNvPr id="25" name="ms-l-2"/>
          <p:cNvSpPr txBox="1"/>
          <p:nvPr/>
        </p:nvSpPr>
        <p:spPr>
          <a:xfrm>
            <a:off x="10387584" y="1920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RMSE (ln IC50)</a:t>
            </a:r>
            <a:endParaRPr lang="en-US" sz="1200" dirty="0"/>
          </a:p>
        </p:txBody>
      </p:sp>
      <p:sp>
        <p:nvSpPr>
          <p:cNvPr id="26" name="honest-card"/>
          <p:cNvSpPr/>
          <p:nvPr/>
        </p:nvSpPr>
        <p:spPr>
          <a:xfrm>
            <a:off x="7772400" y="2651760"/>
            <a:ext cx="3840480" cy="3520440"/>
          </a:xfrm>
          <a:prstGeom prst="roundRect">
            <a:avLst>
              <a:gd name="adj" fmla="val 2078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7" name="honest-h"/>
          <p:cNvSpPr txBox="1"/>
          <p:nvPr/>
        </p:nvSpPr>
        <p:spPr>
          <a:xfrm>
            <a:off x="8001000" y="2788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the per-drug ridge wins</a:t>
            </a:r>
            <a:endParaRPr lang="en-US" sz="1700" dirty="0"/>
          </a:p>
        </p:txBody>
      </p:sp>
      <p:sp>
        <p:nvSpPr>
          <p:cNvPr id="28" name="honest-b"/>
          <p:cNvSpPr txBox="1"/>
          <p:nvPr/>
        </p:nvSpPr>
        <p:spPr>
          <a:xfrm>
            <a:off x="8001000" y="32461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synthetic data plant mostly linear, drug-specific effects, which a separate linear model per drug captures exactly. Our single model must also handle all drugs, missing data and new drugs from structure. Real DepMap/GDSC data and an unseen-drug test will decide.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deployment: 13 of 14 tests passed</a:t>
            </a:r>
            <a:endParaRPr lang="en-US" sz="3200" dirty="0"/>
          </a:p>
        </p:txBody>
      </p:sp>
      <p:graphicFrame>
        <p:nvGraphicFramePr>
          <p:cNvPr id="12" name="tes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3794760"/>
                <a:gridCol w="640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checked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3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T01–T04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unit tests; stack created; health OK; end-to-end prediction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T05–T08, T11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token, forged token, wrong password → 401; sign-up → 403; SSH 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T09–T10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Researcher blocked from user admin (403) and others' samples (404)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T13–T14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and 10-client concurrency within targets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bypass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 answers plain HTTP on its public IP; fix: restrict port 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</a:tbl>
          </a:graphicData>
        </a:graphic>
      </p:graphicFrame>
      <p:sp>
        <p:nvSpPr>
          <p:cNvPr id="4" name="perf-0"/>
          <p:cNvSpPr/>
          <p:nvPr/>
        </p:nvSpPr>
        <p:spPr>
          <a:xfrm>
            <a:off x="7955280" y="128016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5" name="perf-n-0"/>
          <p:cNvSpPr txBox="1"/>
          <p:nvPr/>
        </p:nvSpPr>
        <p:spPr>
          <a:xfrm>
            <a:off x="8183880" y="138988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1.07 s</a:t>
            </a:r>
            <a:endParaRPr lang="en-US" sz="3400" dirty="0"/>
          </a:p>
        </p:txBody>
      </p:sp>
      <p:sp>
        <p:nvSpPr>
          <p:cNvPr id="6" name="perf-l-0"/>
          <p:cNvSpPr txBox="1"/>
          <p:nvPr/>
        </p:nvSpPr>
        <p:spPr>
          <a:xfrm>
            <a:off x="8183880" y="2103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median end-to-end, 12 drugs + explanations</a:t>
            </a:r>
            <a:endParaRPr lang="en-US" sz="1300" dirty="0"/>
          </a:p>
        </p:txBody>
      </p:sp>
      <p:sp>
        <p:nvSpPr>
          <p:cNvPr id="7" name="perf-1"/>
          <p:cNvSpPr/>
          <p:nvPr/>
        </p:nvSpPr>
        <p:spPr>
          <a:xfrm>
            <a:off x="7955280" y="292608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8" name="perf-n-1"/>
          <p:cNvSpPr txBox="1"/>
          <p:nvPr/>
        </p:nvSpPr>
        <p:spPr>
          <a:xfrm>
            <a:off x="8183880" y="303580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0.18 s</a:t>
            </a:r>
            <a:endParaRPr lang="en-US" sz="3400" dirty="0"/>
          </a:p>
        </p:txBody>
      </p:sp>
      <p:sp>
        <p:nvSpPr>
          <p:cNvPr id="9" name="perf-l-1"/>
          <p:cNvSpPr txBox="1"/>
          <p:nvPr/>
        </p:nvSpPr>
        <p:spPr>
          <a:xfrm>
            <a:off x="818388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average server-side inference (CloudWatch)</a:t>
            </a:r>
            <a:endParaRPr lang="en-US" sz="1300" dirty="0"/>
          </a:p>
        </p:txBody>
      </p:sp>
      <p:sp>
        <p:nvSpPr>
          <p:cNvPr id="10" name="perf-2"/>
          <p:cNvSpPr/>
          <p:nvPr/>
        </p:nvSpPr>
        <p:spPr>
          <a:xfrm>
            <a:off x="7955280" y="45720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1" name="perf-n-2"/>
          <p:cNvSpPr txBox="1"/>
          <p:nvPr/>
        </p:nvSpPr>
        <p:spPr>
          <a:xfrm>
            <a:off x="8183880" y="468172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6.6 / s</a:t>
            </a:r>
            <a:endParaRPr lang="en-US" sz="3400" dirty="0"/>
          </a:p>
        </p:txBody>
      </p:sp>
      <p:sp>
        <p:nvSpPr>
          <p:cNvPr id="12" name="perf-l-2"/>
          <p:cNvSpPr txBox="1"/>
          <p:nvPr/>
        </p:nvSpPr>
        <p:spPr>
          <a:xfrm>
            <a:off x="818388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predictions with 10 concurrent users, 0 errors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dashboard: ranked drugs with explanations</a:t>
            </a:r>
            <a:endParaRPr lang="en-US" sz="3200" dirty="0"/>
          </a:p>
        </p:txBody>
      </p:sp>
      <p:pic>
        <p:nvPicPr>
          <p:cNvPr id="3" name="shot_results.png" descr="/private/tmp/claude-501/-Users-abhijeetsinha-Desktop-drugresponse/407171f4-2332-4dd6-a9ea-173092511cdf/scratchpad/report/shot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669280" cy="4974565"/>
          </a:xfrm>
          <a:prstGeom prst="rect">
            <a:avLst/>
          </a:prstGeom>
        </p:spPr>
      </p:pic>
      <p:pic>
        <p:nvPicPr>
          <p:cNvPr id="4" name="shot_explain.png" descr="/private/tmp/claude-501/-Users-abhijeetsinha-Desktop-drugresponse/407171f4-2332-4dd6-a9ea-173092511cdf/scratchpad/report/shot_expl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120640" cy="2326731"/>
          </a:xfrm>
          <a:prstGeom prst="rect">
            <a:avLst/>
          </a:prstGeom>
        </p:spPr>
      </p:pic>
      <p:sp>
        <p:nvSpPr>
          <p:cNvPr id="5" name="dash-cap"/>
          <p:cNvSpPr txBox="1"/>
          <p:nvPr/>
        </p:nvSpPr>
        <p:spPr>
          <a:xfrm>
            <a:off x="6492240" y="47548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Left: predicted sensitivity for 12 drugs with IC50 and sensitive/resistant calls. Right: why vorinostat was predicted sensitive, by data type and top genes.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on the AWS Free plan: no card charges</a:t>
            </a:r>
            <a:endParaRPr lang="en-US" sz="3200" dirty="0"/>
          </a:p>
        </p:txBody>
      </p:sp>
      <p:sp>
        <p:nvSpPr>
          <p:cNvPr id="3" name="cost-chart-title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Estimated on-demand cost, ap-southeast-2 (USD per month)</a:t>
            </a:r>
            <a:endParaRPr lang="en-US" sz="1500" dirty="0"/>
          </a:p>
        </p:txBody>
      </p:sp>
      <p:sp>
        <p:nvSpPr>
          <p:cNvPr id="4" name="cost-chart-lab-0"/>
          <p:cNvSpPr txBox="1"/>
          <p:nvPr/>
        </p:nvSpPr>
        <p:spPr>
          <a:xfrm>
            <a:off x="548640" y="1920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RDS db.t3.micro</a:t>
            </a:r>
            <a:endParaRPr lang="en-US" sz="1500" dirty="0"/>
          </a:p>
        </p:txBody>
      </p:sp>
      <p:sp>
        <p:nvSpPr>
          <p:cNvPr id="5" name="cost-chart-bar-0"/>
          <p:cNvSpPr/>
          <p:nvPr/>
        </p:nvSpPr>
        <p:spPr>
          <a:xfrm>
            <a:off x="2560320" y="1975104"/>
            <a:ext cx="3228331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6" name="cost-chart-val-0"/>
          <p:cNvSpPr txBox="1"/>
          <p:nvPr/>
        </p:nvSpPr>
        <p:spPr>
          <a:xfrm>
            <a:off x="5880091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$20.44</a:t>
            </a:r>
            <a:endParaRPr lang="en-US" sz="1500" dirty="0"/>
          </a:p>
        </p:txBody>
      </p:sp>
      <p:sp>
        <p:nvSpPr>
          <p:cNvPr id="7" name="cost-chart-lab-1"/>
          <p:cNvSpPr txBox="1"/>
          <p:nvPr/>
        </p:nvSpPr>
        <p:spPr>
          <a:xfrm>
            <a:off x="548640" y="26334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EC2 t3.small</a:t>
            </a:r>
            <a:endParaRPr lang="en-US" sz="1500" dirty="0"/>
          </a:p>
        </p:txBody>
      </p:sp>
      <p:sp>
        <p:nvSpPr>
          <p:cNvPr id="8" name="cost-chart-bar-1"/>
          <p:cNvSpPr/>
          <p:nvPr/>
        </p:nvSpPr>
        <p:spPr>
          <a:xfrm>
            <a:off x="2560320" y="2688336"/>
            <a:ext cx="3043539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9" name="cost-chart-val-1"/>
          <p:cNvSpPr txBox="1"/>
          <p:nvPr/>
        </p:nvSpPr>
        <p:spPr>
          <a:xfrm>
            <a:off x="5695299" y="26334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$19.27</a:t>
            </a:r>
            <a:endParaRPr lang="en-US" sz="1500" dirty="0"/>
          </a:p>
        </p:txBody>
      </p:sp>
      <p:sp>
        <p:nvSpPr>
          <p:cNvPr id="10" name="cost-chart-lab-2"/>
          <p:cNvSpPr txBox="1"/>
          <p:nvPr/>
        </p:nvSpPr>
        <p:spPr>
          <a:xfrm>
            <a:off x="548640" y="33467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Public IPv4</a:t>
            </a:r>
            <a:endParaRPr lang="en-US" sz="1500" dirty="0"/>
          </a:p>
        </p:txBody>
      </p:sp>
      <p:sp>
        <p:nvSpPr>
          <p:cNvPr id="11" name="cost-chart-bar-2"/>
          <p:cNvSpPr/>
          <p:nvPr/>
        </p:nvSpPr>
        <p:spPr>
          <a:xfrm>
            <a:off x="2560320" y="3401568"/>
            <a:ext cx="576488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12" name="cost-chart-val-2"/>
          <p:cNvSpPr txBox="1"/>
          <p:nvPr/>
        </p:nvSpPr>
        <p:spPr>
          <a:xfrm>
            <a:off x="3228248" y="33467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$3.65</a:t>
            </a:r>
            <a:endParaRPr lang="en-US" sz="1500" dirty="0"/>
          </a:p>
        </p:txBody>
      </p:sp>
      <p:sp>
        <p:nvSpPr>
          <p:cNvPr id="13" name="cost-chart-lab-3"/>
          <p:cNvSpPr txBox="1"/>
          <p:nvPr/>
        </p:nvSpPr>
        <p:spPr>
          <a:xfrm>
            <a:off x="548640" y="40599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EBS 30 GB</a:t>
            </a:r>
            <a:endParaRPr lang="en-US" sz="1500" dirty="0"/>
          </a:p>
        </p:txBody>
      </p:sp>
      <p:sp>
        <p:nvSpPr>
          <p:cNvPr id="14" name="cost-chart-bar-3"/>
          <p:cNvSpPr/>
          <p:nvPr/>
        </p:nvSpPr>
        <p:spPr>
          <a:xfrm>
            <a:off x="2560320" y="4114800"/>
            <a:ext cx="454872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15" name="cost-chart-val-3"/>
          <p:cNvSpPr txBox="1"/>
          <p:nvPr/>
        </p:nvSpPr>
        <p:spPr>
          <a:xfrm>
            <a:off x="3106632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$2.88</a:t>
            </a:r>
            <a:endParaRPr lang="en-US" sz="1500" dirty="0"/>
          </a:p>
        </p:txBody>
      </p:sp>
      <p:sp>
        <p:nvSpPr>
          <p:cNvPr id="16" name="cost-chart-lab-4"/>
          <p:cNvSpPr txBox="1"/>
          <p:nvPr/>
        </p:nvSpPr>
        <p:spPr>
          <a:xfrm>
            <a:off x="548640" y="47731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RDS storage 20 GB</a:t>
            </a:r>
            <a:endParaRPr lang="en-US" sz="1500" dirty="0"/>
          </a:p>
        </p:txBody>
      </p:sp>
      <p:sp>
        <p:nvSpPr>
          <p:cNvPr id="17" name="cost-chart-bar-4"/>
          <p:cNvSpPr/>
          <p:nvPr/>
        </p:nvSpPr>
        <p:spPr>
          <a:xfrm>
            <a:off x="2560320" y="4828032"/>
            <a:ext cx="435919" cy="347472"/>
          </a:xfrm>
          <a:prstGeom prst="rect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sp>
        <p:nvSpPr>
          <p:cNvPr id="18" name="cost-chart-val-4"/>
          <p:cNvSpPr txBox="1"/>
          <p:nvPr/>
        </p:nvSpPr>
        <p:spPr>
          <a:xfrm>
            <a:off x="3087679" y="477316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$2.76</a:t>
            </a:r>
            <a:endParaRPr lang="en-US" sz="1500" dirty="0"/>
          </a:p>
        </p:txBody>
      </p:sp>
      <p:sp>
        <p:nvSpPr>
          <p:cNvPr id="19" name="cost-total"/>
          <p:cNvSpPr/>
          <p:nvPr/>
        </p:nvSpPr>
        <p:spPr>
          <a:xfrm>
            <a:off x="7406640" y="12801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20" name="cost-n"/>
          <p:cNvSpPr txBox="1"/>
          <p:nvPr/>
        </p:nvSpPr>
        <p:spPr>
          <a:xfrm>
            <a:off x="7635240" y="1371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$49</a:t>
            </a:r>
            <a:endParaRPr lang="en-US" sz="4400" dirty="0"/>
          </a:p>
        </p:txBody>
      </p:sp>
      <p:sp>
        <p:nvSpPr>
          <p:cNvPr id="21" name="cost-l"/>
          <p:cNvSpPr txBox="1"/>
          <p:nvPr/>
        </p:nvSpPr>
        <p:spPr>
          <a:xfrm>
            <a:off x="7635240" y="21945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 month if billed on demand (AWS price lists, 16/10/2026); everything else &lt; $0.10</a:t>
            </a:r>
            <a:endParaRPr lang="en-US" sz="1300" dirty="0"/>
          </a:p>
        </p:txBody>
      </p:sp>
      <p:sp>
        <p:nvSpPr>
          <p:cNvPr id="22" name="cost-ctl"/>
          <p:cNvSpPr/>
          <p:nvPr/>
        </p:nvSpPr>
        <p:spPr>
          <a:xfrm>
            <a:off x="7406640" y="32461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0B2E3A"/>
          </a:solidFill>
          <a:ln w="9525">
            <a:solidFill>
              <a:srgbClr val="0B2E3A"/>
            </a:solidFill>
            <a:prstDash val="solid"/>
          </a:ln>
        </p:spPr>
      </p:sp>
      <p:sp>
        <p:nvSpPr>
          <p:cNvPr id="23" name="cost-ctl-h"/>
          <p:cNvSpPr txBox="1"/>
          <p:nvPr/>
        </p:nvSpPr>
        <p:spPr>
          <a:xfrm>
            <a:off x="763524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Cost controls</a:t>
            </a:r>
            <a:endParaRPr lang="en-US" sz="1800" dirty="0"/>
          </a:p>
        </p:txBody>
      </p:sp>
      <p:sp>
        <p:nvSpPr>
          <p:cNvPr id="24" name="cost-ctl-b"/>
          <p:cNvSpPr txBox="1"/>
          <p:nvPr/>
        </p:nvSpPr>
        <p:spPr>
          <a:xfrm>
            <a:off x="7635240" y="3840480"/>
            <a:ext cx="3794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Free plan: usage comes from credits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SageMaker switched off (FreeTierOnly)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NAT gateway; Parameter Store, not Secrets 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Stop EC2/RDS between sessions; delete stack after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lim-card"/>
          <p:cNvSpPr/>
          <p:nvPr/>
        </p:nvSpPr>
        <p:spPr>
          <a:xfrm>
            <a:off x="54864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badge-lim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5" name="icon-li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651406"/>
            <a:ext cx="309067" cy="309067"/>
          </a:xfrm>
          <a:prstGeom prst="rect">
            <a:avLst/>
          </a:prstGeom>
        </p:spPr>
      </p:pic>
      <p:sp>
        <p:nvSpPr>
          <p:cNvPr id="6" name="lim-h"/>
          <p:cNvSpPr txBox="1"/>
          <p:nvPr/>
        </p:nvSpPr>
        <p:spPr>
          <a:xfrm>
            <a:off x="155448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Current limitations</a:t>
            </a:r>
            <a:endParaRPr lang="en-US" sz="1900" dirty="0"/>
          </a:p>
        </p:txBody>
      </p:sp>
      <p:sp>
        <p:nvSpPr>
          <p:cNvPr id="7" name="lim-b"/>
          <p:cNvSpPr txBox="1"/>
          <p:nvPr/>
        </p:nvSpPr>
        <p:spPr>
          <a:xfrm>
            <a:off x="82296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Synthetic data only; one training run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Per-drug ridge beats the model here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Port 80 reachable without HTTPS (T12)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Single EC2 instance, Single-AZ 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Region fixed to Sydney (extra latency)</a:t>
            </a:r>
            <a:endParaRPr lang="en-US" sz="1600" dirty="0"/>
          </a:p>
        </p:txBody>
      </p:sp>
      <p:sp>
        <p:nvSpPr>
          <p:cNvPr id="8" name="next-card"/>
          <p:cNvSpPr/>
          <p:nvPr/>
        </p:nvSpPr>
        <p:spPr>
          <a:xfrm>
            <a:off x="6217920" y="132588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9" name="badge-next"/>
          <p:cNvSpPr/>
          <p:nvPr/>
        </p:nvSpPr>
        <p:spPr>
          <a:xfrm>
            <a:off x="6446520" y="1508760"/>
            <a:ext cx="594360" cy="5943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0" name="icon-nex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1651406"/>
            <a:ext cx="309067" cy="309067"/>
          </a:xfrm>
          <a:prstGeom prst="rect">
            <a:avLst/>
          </a:prstGeom>
        </p:spPr>
      </p:pic>
      <p:sp>
        <p:nvSpPr>
          <p:cNvPr id="11" name="next-h"/>
          <p:cNvSpPr txBox="1"/>
          <p:nvPr/>
        </p:nvSpPr>
        <p:spPr>
          <a:xfrm>
            <a:off x="7223760" y="1600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Next steps</a:t>
            </a:r>
            <a:endParaRPr lang="en-US" sz="1900" dirty="0"/>
          </a:p>
        </p:txBody>
      </p:sp>
      <p:sp>
        <p:nvSpPr>
          <p:cNvPr id="12" name="next-b"/>
          <p:cNvSpPr txBox="1"/>
          <p:nvPr/>
        </p:nvSpPr>
        <p:spPr>
          <a:xfrm>
            <a:off x="6492240" y="23317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on DepMap + GDSC; test unseen drugs; run TCGA validation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Repeat runs with several seeds; report confidence intervals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Restrict port 80 to API Gateway or use a private VPC link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 Scaling across two AZs; Multi-AZ RDS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Move to Mumbai; add CI/CD and SNS e-mail alerts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200" dirty="0"/>
          </a:p>
        </p:txBody>
      </p:sp>
      <p:sp>
        <p:nvSpPr>
          <p:cNvPr id="3" name="tm-card-0"/>
          <p:cNvSpPr/>
          <p:nvPr/>
        </p:nvSpPr>
        <p:spPr>
          <a:xfrm>
            <a:off x="54864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4" name="badge-tm-0"/>
          <p:cNvSpPr/>
          <p:nvPr/>
        </p:nvSpPr>
        <p:spPr>
          <a:xfrm>
            <a:off x="1874520" y="1645920"/>
            <a:ext cx="822960" cy="82296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5" name="icon-tm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030" y="1843430"/>
            <a:ext cx="427939" cy="427939"/>
          </a:xfrm>
          <a:prstGeom prst="rect">
            <a:avLst/>
          </a:prstGeom>
        </p:spPr>
      </p:pic>
      <p:sp>
        <p:nvSpPr>
          <p:cNvPr id="6" name="tm-n-0"/>
          <p:cNvSpPr txBox="1"/>
          <p:nvPr/>
        </p:nvSpPr>
        <p:spPr>
          <a:xfrm>
            <a:off x="73152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Abhijeet Sinha</a:t>
            </a:r>
            <a:endParaRPr lang="en-US" sz="2000" dirty="0"/>
          </a:p>
        </p:txBody>
      </p:sp>
      <p:sp>
        <p:nvSpPr>
          <p:cNvPr id="7" name="tm-r-0"/>
          <p:cNvSpPr txBox="1"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23BIT0157</a:t>
            </a:r>
            <a:endParaRPr lang="en-US" sz="1400" dirty="0"/>
          </a:p>
        </p:txBody>
      </p:sp>
      <p:sp>
        <p:nvSpPr>
          <p:cNvPr id="8" name="tm-b-0"/>
          <p:cNvSpPr txBox="1"/>
          <p:nvPr/>
        </p:nvSpPr>
        <p:spPr>
          <a:xfrm>
            <a:off x="86868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Data, preprocessing and DrugResponseNet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Training, metrics and baselines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Papers P2, P7, P10, P12, P13</a:t>
            </a:r>
            <a:endParaRPr lang="en-US" sz="1500" dirty="0"/>
          </a:p>
        </p:txBody>
      </p:sp>
      <p:sp>
        <p:nvSpPr>
          <p:cNvPr id="9" name="tm-card-1"/>
          <p:cNvSpPr/>
          <p:nvPr/>
        </p:nvSpPr>
        <p:spPr>
          <a:xfrm>
            <a:off x="429768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0" name="badge-tm-1"/>
          <p:cNvSpPr/>
          <p:nvPr/>
        </p:nvSpPr>
        <p:spPr>
          <a:xfrm>
            <a:off x="5623560" y="1645920"/>
            <a:ext cx="822960" cy="82296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1" name="icon-tm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070" y="1843430"/>
            <a:ext cx="427939" cy="427939"/>
          </a:xfrm>
          <a:prstGeom prst="rect">
            <a:avLst/>
          </a:prstGeom>
        </p:spPr>
      </p:pic>
      <p:sp>
        <p:nvSpPr>
          <p:cNvPr id="12" name="tm-n-1"/>
          <p:cNvSpPr txBox="1"/>
          <p:nvPr/>
        </p:nvSpPr>
        <p:spPr>
          <a:xfrm>
            <a:off x="448056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Sarthak Pathak</a:t>
            </a:r>
            <a:endParaRPr lang="en-US" sz="2000" dirty="0"/>
          </a:p>
        </p:txBody>
      </p:sp>
      <p:sp>
        <p:nvSpPr>
          <p:cNvPr id="13" name="tm-r-1"/>
          <p:cNvSpPr txBox="1"/>
          <p:nvPr/>
        </p:nvSpPr>
        <p:spPr>
          <a:xfrm>
            <a:off x="448056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23BIT0187</a:t>
            </a:r>
            <a:endParaRPr lang="en-US" sz="1400" dirty="0"/>
          </a:p>
        </p:txBody>
      </p:sp>
      <p:sp>
        <p:nvSpPr>
          <p:cNvPr id="14" name="tm-b-1"/>
          <p:cNvSpPr txBox="1"/>
          <p:nvPr/>
        </p:nvSpPr>
        <p:spPr>
          <a:xfrm>
            <a:off x="461772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CloudFormation, IAM, VPC, SSM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FastAPI backend, RBAC, PostgreSQL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Papers P1, P4, P5, P11, P14</a:t>
            </a:r>
            <a:endParaRPr lang="en-US" sz="1500" dirty="0"/>
          </a:p>
        </p:txBody>
      </p:sp>
      <p:sp>
        <p:nvSpPr>
          <p:cNvPr id="15" name="tm-card-2"/>
          <p:cNvSpPr/>
          <p:nvPr/>
        </p:nvSpPr>
        <p:spPr>
          <a:xfrm>
            <a:off x="8046720" y="1371600"/>
            <a:ext cx="3474720" cy="4754880"/>
          </a:xfrm>
          <a:prstGeom prst="roundRect">
            <a:avLst>
              <a:gd name="adj" fmla="val 2105"/>
            </a:avLst>
          </a:prstGeom>
          <a:solidFill>
            <a:srgbClr val="EEF4F5"/>
          </a:solidFill>
          <a:ln w="9525">
            <a:solidFill>
              <a:srgbClr val="EEF4F5"/>
            </a:solidFill>
            <a:prstDash val="solid"/>
          </a:ln>
        </p:spPr>
      </p:sp>
      <p:sp>
        <p:nvSpPr>
          <p:cNvPr id="16" name="badge-tm-2"/>
          <p:cNvSpPr/>
          <p:nvPr/>
        </p:nvSpPr>
        <p:spPr>
          <a:xfrm>
            <a:off x="9372600" y="1645920"/>
            <a:ext cx="822960" cy="822960"/>
          </a:xfrm>
          <a:prstGeom prst="ellipse">
            <a:avLst/>
          </a:prstGeom>
          <a:solidFill>
            <a:srgbClr val="0F7C7C"/>
          </a:solidFill>
          <a:ln w="12700">
            <a:solidFill>
              <a:srgbClr val="0F7C7C"/>
            </a:solidFill>
            <a:prstDash val="solid"/>
          </a:ln>
        </p:spPr>
      </p:sp>
      <p:pic>
        <p:nvPicPr>
          <p:cNvPr id="17" name="icon-tm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110" y="1843430"/>
            <a:ext cx="427939" cy="427939"/>
          </a:xfrm>
          <a:prstGeom prst="rect">
            <a:avLst/>
          </a:prstGeom>
        </p:spPr>
      </p:pic>
      <p:sp>
        <p:nvSpPr>
          <p:cNvPr id="18" name="tm-n-2"/>
          <p:cNvSpPr txBox="1"/>
          <p:nvPr/>
        </p:nvSpPr>
        <p:spPr>
          <a:xfrm>
            <a:off x="822960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Shriyans Pratihari</a:t>
            </a:r>
            <a:endParaRPr lang="en-US" sz="2000" dirty="0"/>
          </a:p>
        </p:txBody>
      </p:sp>
      <p:sp>
        <p:nvSpPr>
          <p:cNvPr id="19" name="tm-r-2"/>
          <p:cNvSpPr txBox="1"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23BIT0219</a:t>
            </a:r>
            <a:endParaRPr lang="en-US" sz="1400" dirty="0"/>
          </a:p>
        </p:txBody>
      </p:sp>
      <p:sp>
        <p:nvSpPr>
          <p:cNvPr id="20" name="tm-b-2"/>
          <p:cNvSpPr txBox="1"/>
          <p:nvPr/>
        </p:nvSpPr>
        <p:spPr>
          <a:xfrm>
            <a:off x="8366760" y="361188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Dashboard and API integration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End-to-end and UI testing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Papers P3, P6, P8, P9, P15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417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drug-response model, delivered as a secure cloud service for $0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O1, O3, O5, O6 met · O4 met with one finding · O2 partly met</a:t>
            </a:r>
            <a:endParaRPr lang="en-US" sz="2000" dirty="0"/>
          </a:p>
        </p:txBody>
      </p:sp>
      <p:sp>
        <p:nvSpPr>
          <p:cNvPr id="4" name="repo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Code: github.com/Vegeta290/AIDrugResponsePrediction_AWS_Cloud_Project_2026</a:t>
            </a:r>
            <a:endParaRPr lang="en-US" sz="1600" dirty="0"/>
          </a:p>
        </p:txBody>
      </p:sp>
      <p:sp>
        <p:nvSpPr>
          <p:cNvPr id="5" name="live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Live: q6oovdd9rc.execute-api.ap-southeast-2.amazonaws.com</a:t>
            </a:r>
            <a:endParaRPr lang="en-US" sz="1600" dirty="0"/>
          </a:p>
        </p:txBody>
      </p:sp>
      <p:sp>
        <p:nvSpPr>
          <p:cNvPr id="6" name="thanks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Thank you ·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ug Response Cloud">
  <a:themeElements>
    <a:clrScheme name="Drug Response Cloud">
      <a:dk1>
        <a:srgbClr val="1B2430"/>
      </a:dk1>
      <a:lt1>
        <a:srgbClr val="FFFFFF"/>
      </a:lt1>
      <a:dk2>
        <a:srgbClr val="0B2E3A"/>
      </a:dk2>
      <a:lt2>
        <a:srgbClr val="EEF4F5"/>
      </a:lt2>
      <a:accent1>
        <a:srgbClr val="0F7C7C"/>
      </a:accent1>
      <a:accent2>
        <a:srgbClr val="F29F05"/>
      </a:accent2>
      <a:accent3>
        <a:srgbClr val="D64545"/>
      </a:accent3>
      <a:accent4>
        <a:srgbClr val="2E9E5B"/>
      </a:accent4>
      <a:accent5>
        <a:srgbClr val="5B6B7A"/>
      </a:accent5>
      <a:accent6>
        <a:srgbClr val="BFD9DA"/>
      </a:accent6>
      <a:hlink>
        <a:srgbClr val="0F7C7C"/>
      </a:hlink>
      <a:folHlink>
        <a:srgbClr val="5B6B7A"/>
      </a:folHlink>
    </a:clrScheme>
    <a:fontScheme name="Drug Response Clou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Cloud Platform for Personalized Drug Response Prediction</dc:title>
  <dc:subject>PptxGenJS Presentation</dc:subject>
  <dc:creator>Abhijeet Sinha, Sarthak Pathak, Shriyans Pratihari</dc:creator>
  <cp:lastModifiedBy>Abhijeet Sinha, Sarthak Pathak, Shriyans Pratihari</cp:lastModifiedBy>
  <cp:revision>1</cp:revision>
  <dcterms:created xsi:type="dcterms:W3CDTF">2026-10-16T09:45:50Z</dcterms:created>
  <dcterms:modified xsi:type="dcterms:W3CDTF">2026-10-16T09:45:50Z</dcterms:modified>
</cp:coreProperties>
</file>